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DO ORADOR (Slide 1 - Abertura):</a:t>
            </a:r>
          </a:p>
          <a:p>
            <a:r>
              <a:t>Senhor Procurador-Geral de Justiça, Senhores Membros da Administração Superior e da APG.</a:t>
            </a:r>
          </a:p>
          <a:p>
            <a:r>
              <a:t>Apresentamos hoje o PROJETO ANNONA — uma iniciativa estratégica concebida na Coordenadoria de Licitações e Contratos (CLC) para alçar as contratações públicas do MPPI a um patamar inédito de maturidade, segurança jurídica e eficiência orçamentária.</a:t>
            </a:r>
          </a:p>
          <a:p>
            <a:r>
              <a:t>Com uma base empírica de mais de R$ 341 milhões analisados em 12 instituições da região, este projeto traz inovação tecnológica e atende integralmente aos requisitos de governança do Ato PGJ nº 1.025/2020 e aos critérios do Prêmio CNMP 2026.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DO ORADOR (Slide 2 - Origem):</a:t>
            </a:r>
          </a:p>
          <a:p>
            <a:r>
              <a:t>Muitas vezes projetos institucionais recebem siglas artificiais que caem no esquecimento.</a:t>
            </a:r>
          </a:p>
          <a:p>
            <a:r>
              <a:t>Optamos por batizar esta iniciativa de PROJETO ANNONA em homenagem à histórica magistratura romana da Cura Annonae, instituída no ano 7 da nossa era para zelar pelo suprimento público e garantir que o Estado não fosse lesado por preços abusivos.</a:t>
            </a:r>
          </a:p>
          <a:p>
            <a:r>
              <a:t>Para o Ministério Público, órgão guardião da moralidade e do patrimônio público, esse nome traz autoridade moral indiscutível e traduz perfeitamente a nossa missão: proteger o erário e dotar a instituição dos melhores suprimentos pelo preço justo.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DO ORADOR (Slide 3 - Diagnóstico):</a:t>
            </a:r>
          </a:p>
          <a:p>
            <a:r>
              <a:t>Qual é o cenário concreto que enfrentamos hoje nas contratações públicas?</a:t>
            </a:r>
          </a:p>
          <a:p>
            <a:r>
              <a:t>Primeiro: assimetria severa de informações. Quando orçamos um contrato, muitas vezes dependemos de propostas pontuais que não refletem a realidade das disputas licitatórias no Nordeste, onde o deságio real alcança 20,18%.</a:t>
            </a:r>
          </a:p>
          <a:p>
            <a:r>
              <a:t>Segundo: uma mudança brusca na jurisprudência do Tribunal de Contas do Piauí com o Acórdão 300/2025, que aumentou dramaticamente o rigor sobre caronas e adesões a atas, exigindo estudos locais aprofundados.</a:t>
            </a:r>
          </a:p>
          <a:p>
            <a:r>
              <a:t>Terceiro: a sobrecarga das assessorias técnicas e jurídicas, que perdem tempo conferindo minutas básicas em vez de atuar no planejamento estratégico.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DO ORADOR (Slide 4 - Diferencial das MJRs):</a:t>
            </a:r>
          </a:p>
          <a:p>
            <a:r>
              <a:t>É fundamental responder a uma pergunta muito justa: 'O MPPI já não possui pareceres e Manifestações Jurídicas Referenciais da PGJ?'</a:t>
            </a:r>
          </a:p>
          <a:p>
            <a:r>
              <a:t>Sim, e elas são excelentes. Porém, uma MJR é um documento estático em PDF. Ela diz a regra, mas não faz a auditoria.</a:t>
            </a:r>
          </a:p>
          <a:p>
            <a:r>
              <a:t>O Projeto ANNONA não vem concorrer com as MJRs; ele é o motor de execução que dá vida às MJRs!</a:t>
            </a:r>
          </a:p>
          <a:p>
            <a:r>
              <a:t>Ele lê o Termo de Referência em segundos, valida se todas as exigências das MJRs da PGJ foram atendidas, calcula se o preço está dentro da curva real de deságio regional e blinda o processo contra os apontamentos recentes do Acórdão 300/2025 do TCE-PI.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DO ORADOR (Slide 5 - Demonstração do Portal):</a:t>
            </a:r>
          </a:p>
          <a:p>
            <a:r>
              <a:t>O Projeto ANNONA não é apenas uma ideia conceitual no papel. Ele já é um portal operacional, construído e funcional.</a:t>
            </a:r>
          </a:p>
          <a:p>
            <a:r>
              <a:t>Ele está estruturado em 6 módulos integrados:</a:t>
            </a:r>
          </a:p>
          <a:p>
            <a:r>
              <a:t>1. O Panorama Regional de 12 instituições;</a:t>
            </a:r>
          </a:p>
          <a:p>
            <a:r>
              <a:t>2. O Estudo Matemático de Economicidade;</a:t>
            </a:r>
          </a:p>
          <a:p>
            <a:r>
              <a:t>3. O Simulador de Preços para a equipe de apoio e pregoeiros;</a:t>
            </a:r>
          </a:p>
          <a:p>
            <a:r>
              <a:t>4. O Módulo das 3 Linhas de Defesa e Controle Interno;</a:t>
            </a:r>
          </a:p>
          <a:p>
            <a:r>
              <a:t>5. O Caderno Normativo do MPPI com minutas prontas;</a:t>
            </a:r>
          </a:p>
          <a:p>
            <a:r>
              <a:t>6. E o Explorador Semântico com Inteligência Artificial para pesquisas instantâneas em linguagem natural.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DO ORADOR (Slide 6 - Economicidade e Retorno):</a:t>
            </a:r>
          </a:p>
          <a:p>
            <a:r>
              <a:t>Vejam os números que embasam o projeto: mapeamos mais de R$ 68 milhões em deságios reais praticados nos órgãos congêneres.</a:t>
            </a:r>
          </a:p>
          <a:p>
            <a:r>
              <a:t>O impacto é duplo: tempo e dinheiro.</a:t>
            </a:r>
          </a:p>
          <a:p>
            <a:r>
              <a:t>Tempo: reduzimos em até 70% o tempo de instrução e saneamento dos processos de contratação na CLC.</a:t>
            </a:r>
          </a:p>
          <a:p>
            <a:r>
              <a:t>Dinheiro: o custo de desenvolvimento deste projeto é zero para a Administração Superior, pois foi integralmente construído por servidores do MPPI com uso de dados abertos e IA. Com apenas 1% de ganho de negociação nos nossos pregões, a economia gerada é estrondosa.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DO ORADOR (Slide 7 - Prêmio CNMP 2026):</a:t>
            </a:r>
          </a:p>
          <a:p>
            <a:r>
              <a:t>O Projeto ANNONA foi desenhado desde o primeiro dia para ser uma iniciativa premiável.</a:t>
            </a:r>
          </a:p>
          <a:p>
            <a:r>
              <a:t>Estudamos o regulamento do Prêmio CNMP e o Manual de Projetos do MPPI aprovado pelo Ato PGJ nº 1.025/2020.</a:t>
            </a:r>
          </a:p>
          <a:p>
            <a:r>
              <a:t>O projeto atende com nota máxima aos cinco critérios do Conselho Nacional do Ministério Público: Resolutividade, Inovação, Proatividade, Cooperação e Transparência.</a:t>
            </a:r>
          </a:p>
          <a:p>
            <a:r>
              <a:t>É a oportunidade de colocar o Ministério Público do Piauí na vitrine nacional da gestão pública e concorrer de igual para igual com qualquer Ministério Público do país.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DO ORADOR (Slide 8 - Três Linhas de Defesa):</a:t>
            </a:r>
          </a:p>
          <a:p>
            <a:r>
              <a:t>A nova Lei de Licitações consagrou o modelo internacional das Três Linhas de Defesa.</a:t>
            </a:r>
          </a:p>
          <a:p>
            <a:r>
              <a:t>O Projeto ANNONA fortalece estruturalmente cada uma dessas linhas no MPPI:</a:t>
            </a:r>
          </a:p>
          <a:p>
            <a:r>
              <a:t>Na 1ª Linha (a CLC), ele dá ferramentas para não errar e negociar melhor;</a:t>
            </a:r>
          </a:p>
          <a:p>
            <a:r>
              <a:t>Na 2ª Linha (Controle Interno e APG), ele fornece matrizes de riscos automatizadas;</a:t>
            </a:r>
          </a:p>
          <a:p>
            <a:r>
              <a:t>Na 3ª Linha (Assessoria Jurídica da PGJ), ele entrega processos limpos, bem instruídos, sem pendências bobas que atrasam a decisão do Procurador-Geral.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DO ORADOR (Slide 9 - Roteiro SEI):</a:t>
            </a:r>
          </a:p>
          <a:p>
            <a:r>
              <a:t>Não estamos propondo um trabalho adicional penoso. Todos os documentos já estão prontos.</a:t>
            </a:r>
          </a:p>
          <a:p>
            <a:r>
              <a:t>O Despacho da CLC já está redigido, o TAP do projeto já preenche rigorosamente todos os campos exigidos pela APG e o portal já funciona.</a:t>
            </a:r>
          </a:p>
          <a:p>
            <a:r>
              <a:t>Basta a autuação no SEI, a análise metodológica da APG e a publicação da Portaria pela PGJ para institucionalizar o ANNONA.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NOTAS DO ORADOR (Slide 10 - Encerramento):</a:t>
            </a:r>
          </a:p>
          <a:p>
            <a:r>
              <a:t>Senhor Procurador-Geral, Senhores Coordenadores:</a:t>
            </a:r>
          </a:p>
          <a:p>
            <a:r>
              <a:t>O Projeto ANNONA une tradição, responsabilidade fiscal e inovação tecnológica de ponta.</a:t>
            </a:r>
          </a:p>
          <a:p>
            <a:r>
              <a:t>Ele protege o erário, protege os gestores e valoriza o Ministério Público do Piauí perante toda a sociedade e perante o CNMP.</a:t>
            </a:r>
          </a:p>
          <a:p>
            <a:r>
              <a:t>Solicitamos a aprovação da Administração Superior para autuar o processo, chancelar o Termo de Abertura e levar este projeto ao patamar de destaque que nossa instituição merece.</a:t>
            </a:r>
          </a:p>
          <a:p>
            <a:r>
              <a:t>Muito obrigado. Estamos à disposição para eventuais esclarecimentos.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10728655" cy="4114800"/>
          </a:xfrm>
          <a:prstGeom prst="rect">
            <a:avLst/>
          </a:prstGeom>
          <a:solidFill>
            <a:srgbClr val="141B26"/>
          </a:solidFill>
          <a:ln w="25400">
            <a:solidFill>
              <a:srgbClr val="8B15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457200"/>
          <a:lstStyle/>
          <a:p>
            <a:pPr algn="ctr">
              <a:spcAft>
                <a:spcPts val="1200"/>
              </a:spcAft>
              <a:defRPr sz="1100" b="1">
                <a:solidFill>
                  <a:srgbClr val="D4AF37"/>
                </a:solidFill>
                <a:latin typeface="Segoe UI"/>
              </a:defRPr>
            </a:pPr>
            <a:r>
              <a:t>MINISTÉRIO PÚBLICO DO ESTADO DO PIAUÍ • COORDENADORIA DE LICITAÇÕES E CONTRATOS (CLC)</a:t>
            </a:r>
          </a:p>
          <a:p>
            <a:pPr>
              <a:spcAft>
                <a:spcPts val="400"/>
              </a:spcAft>
              <a:defRPr sz="4400" b="1">
                <a:solidFill>
                  <a:srgbClr val="F8FAFC"/>
                </a:solidFill>
                <a:latin typeface="Segoe UI"/>
              </a:defRPr>
            </a:pPr>
            <a:r>
              <a:t>PROJETO ANNONA</a:t>
            </a:r>
          </a:p>
          <a:p>
            <a:pPr>
              <a:spcAft>
                <a:spcPts val="1600"/>
              </a:spcAft>
              <a:defRPr sz="1800">
                <a:solidFill>
                  <a:srgbClr val="F1C40F"/>
                </a:solidFill>
                <a:latin typeface="Segoe UI"/>
              </a:defRPr>
            </a:pPr>
            <a:r>
              <a:t>Observatório de Governança, Preços e Inteligência em Contratações Públicas</a:t>
            </a:r>
          </a:p>
          <a:p>
            <a:pPr>
              <a:defRPr sz="1300">
                <a:solidFill>
                  <a:srgbClr val="E2E8F0"/>
                </a:solidFill>
                <a:latin typeface="Segoe UI"/>
              </a:defRPr>
            </a:pPr>
            <a:r>
              <a:t>Transformando dados de compras públicas em blindagem jurídica, economicidade comprovada e candidatura ao Prêmio CNMP 2026.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5257800"/>
            <a:ext cx="3413455" cy="1097280"/>
          </a:xfrm>
          <a:prstGeom prst="roundRect">
            <a:avLst/>
          </a:prstGeom>
          <a:solidFill>
            <a:srgbClr val="192230"/>
          </a:solidFill>
          <a:ln w="1270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2000" b="1">
                <a:solidFill>
                  <a:srgbClr val="D4AF37"/>
                </a:solidFill>
                <a:latin typeface="Segoe UI"/>
              </a:defRPr>
            </a:pPr>
            <a:r>
              <a:t>R$ 341.6M+</a:t>
            </a:r>
          </a:p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Volume Regional Analisado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12 Órgãos do Nordeste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5257800"/>
            <a:ext cx="3413455" cy="1097280"/>
          </a:xfrm>
          <a:prstGeom prst="roundRect">
            <a:avLst/>
          </a:prstGeom>
          <a:solidFill>
            <a:srgbClr val="192230"/>
          </a:solidFill>
          <a:ln w="1270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2000" b="1">
                <a:solidFill>
                  <a:srgbClr val="D4AF37"/>
                </a:solidFill>
                <a:latin typeface="Segoe UI"/>
              </a:defRPr>
            </a:pPr>
            <a:r>
              <a:t>20,18%</a:t>
            </a:r>
          </a:p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Deságio Médio em Licitações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R$ 68,8M em Economia Mapeada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5257800"/>
            <a:ext cx="3413455" cy="1097280"/>
          </a:xfrm>
          <a:prstGeom prst="roundRect">
            <a:avLst/>
          </a:prstGeom>
          <a:solidFill>
            <a:srgbClr val="192230"/>
          </a:solidFill>
          <a:ln w="1270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2000" b="1">
                <a:solidFill>
                  <a:srgbClr val="D4AF37"/>
                </a:solidFill>
                <a:latin typeface="Segoe UI"/>
              </a:defRPr>
            </a:pPr>
            <a:r>
              <a:t>10.504</a:t>
            </a:r>
          </a:p>
          <a:p>
            <a:pPr>
              <a:defRPr sz="1000" b="1">
                <a:solidFill>
                  <a:srgbClr val="F8FAFC"/>
                </a:solidFill>
                <a:latin typeface="Segoe UI"/>
              </a:defRPr>
            </a:pPr>
            <a:r>
              <a:t>Contratos e Editais Minerados</a:t>
            </a:r>
          </a:p>
          <a:p>
            <a:pPr>
              <a:defRPr sz="900">
                <a:solidFill>
                  <a:srgbClr val="94A3B8"/>
                </a:solidFill>
                <a:latin typeface="Segoe UI"/>
              </a:defRPr>
            </a:pPr>
            <a:r>
              <a:t>Motor de IA / RAG em Tempo Real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  <a:latin typeface="Segoe UI"/>
              </a:defRPr>
            </a:pPr>
            <a:r>
              <a:t>IDENTIDADE INSTITUCIONAL E CONCEITO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Origem Histórica: Por que batizamos de 'PROJETO ANNONA'?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393192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201168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t>RAÍZES DO DIREITO PÚBLICO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A Tradição Clássica: A 'Cura Annonae' (7 d.C.)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C40F"/>
                </a:solidFill>
                <a:latin typeface="Segoe UI"/>
              </a:rPr>
              <a:t>Origem Histórica: </a:t>
            </a:r>
            <a:r>
              <a:rPr sz="1100">
                <a:solidFill>
                  <a:srgbClr val="E2E8F0"/>
                </a:solidFill>
                <a:latin typeface="Segoe UI"/>
              </a:rPr>
              <a:t>Criada no principado de Augusto, a Cura Annonae foi a primeira grande magistratura da história dedicada a planejar suprimentos públicos e fiscalizar contratos.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C40F"/>
                </a:solidFill>
                <a:latin typeface="Segoe UI"/>
              </a:rPr>
              <a:t>Missão Central: </a:t>
            </a:r>
            <a:r>
              <a:rPr sz="1100">
                <a:solidFill>
                  <a:srgbClr val="E2E8F0"/>
                </a:solidFill>
                <a:latin typeface="Segoe UI"/>
              </a:rPr>
              <a:t>Evitar desabastecimentos, assegurar a integridade logística do Estado e combater a especulação e o sobrepreço nas compras públicas.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C40F"/>
                </a:solidFill>
                <a:latin typeface="Segoe UI"/>
              </a:rPr>
              <a:t>O Magistrado Annona: </a:t>
            </a:r>
            <a:r>
              <a:rPr sz="1100">
                <a:solidFill>
                  <a:srgbClr val="E2E8F0"/>
                </a:solidFill>
                <a:latin typeface="Segoe UI"/>
              </a:rPr>
              <a:t>Tinha jurisdição expressa sobre transportes, armazenamento e formação de preços justos, sendo a gênese do dever republicano de eficiência nas contratações.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C40F"/>
                </a:solidFill>
                <a:latin typeface="Segoe UI"/>
              </a:rPr>
              <a:t>Peso Institucional: </a:t>
            </a:r>
            <a:r>
              <a:rPr sz="1100">
                <a:solidFill>
                  <a:srgbClr val="E2E8F0"/>
                </a:solidFill>
                <a:latin typeface="Segoe UI"/>
              </a:rPr>
              <a:t>Conecta a identidade da CLC/MPPI à mais sólida tradição jurídica clássica, abandonando siglas genéricas por um símbolo de liderança moral e técnica.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554480"/>
            <a:ext cx="5212080" cy="393192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201168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t>APLICAÇÃO NO SÉCULO XXI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A Transposição Moderna: Inteligência para o MPPI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C40F"/>
                </a:solidFill>
                <a:latin typeface="Segoe UI"/>
              </a:rPr>
              <a:t>Governança Proativa: </a:t>
            </a:r>
            <a:r>
              <a:rPr sz="1100">
                <a:solidFill>
                  <a:srgbClr val="E2E8F0"/>
                </a:solidFill>
                <a:latin typeface="Segoe UI"/>
              </a:rPr>
              <a:t>Não se trata de burocracia punitiva a posteriori, mas de inteligência preventiva na primeira linha de defesa das contratações institucionais.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C40F"/>
                </a:solidFill>
                <a:latin typeface="Segoe UI"/>
              </a:rPr>
              <a:t>A Busca do Preço Justo: </a:t>
            </a:r>
            <a:r>
              <a:rPr sz="1100">
                <a:solidFill>
                  <a:srgbClr val="E2E8F0"/>
                </a:solidFill>
                <a:latin typeface="Segoe UI"/>
              </a:rPr>
              <a:t>O Estado não pode comprar pelo preço de catálogo sem conhecer o comportamento real do mercado licitatório e os deságios praticados.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C40F"/>
                </a:solidFill>
                <a:latin typeface="Segoe UI"/>
              </a:rPr>
              <a:t>Segurança para os Gestores: </a:t>
            </a:r>
            <a:r>
              <a:rPr sz="1100">
                <a:solidFill>
                  <a:srgbClr val="E2E8F0"/>
                </a:solidFill>
                <a:latin typeface="Segoe UI"/>
              </a:rPr>
              <a:t>Blindagem completa das decisões administrativas contra contestações e auditorias do Tribunal de Contas (TCE-PI).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C40F"/>
                </a:solidFill>
                <a:latin typeface="Segoe UI"/>
              </a:rPr>
              <a:t>Inovação com Rigor: </a:t>
            </a:r>
            <a:r>
              <a:rPr sz="1100">
                <a:solidFill>
                  <a:srgbClr val="E2E8F0"/>
                </a:solidFill>
                <a:latin typeface="Segoe UI"/>
              </a:rPr>
              <a:t>Aliamos o peso histórico da magistratura ao poder contemporâneo da Inteligência Artificial e da Ciência de Dados.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777240"/>
          </a:xfrm>
          <a:prstGeom prst="roundRect">
            <a:avLst/>
          </a:prstGeom>
          <a:solidFill>
            <a:srgbClr val="1E141C"/>
          </a:solidFill>
          <a:ln w="12700">
            <a:solidFill>
              <a:srgbClr val="8B15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100" i="1">
                <a:solidFill>
                  <a:srgbClr val="D4AF37"/>
                </a:solidFill>
                <a:latin typeface="Segoe UI"/>
              </a:defRPr>
            </a:pPr>
            <a:r>
              <a:t>"Da Roma Imperial à era da Inteligência Artificial: o compromisso republicano com o preço justo, a integridade dos processos e a perenidade dos serviços públicos."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  <a:latin typeface="Segoe UI"/>
              </a:defRPr>
            </a:pPr>
            <a:r>
              <a:t>DIAGNÓSTICO E CONTEXTO DE RISCO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O Problema Real: Desafios Críticos nas Contratações Públicas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13455" cy="475488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201168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t>DESAFIO 01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Assimetria de Preços no Mercado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F1C40F"/>
                </a:solidFill>
                <a:latin typeface="Segoe UI"/>
              </a:rPr>
              <a:t>Cotações Infladas: </a:t>
            </a:r>
            <a:r>
              <a:rPr sz="1050">
                <a:solidFill>
                  <a:srgbClr val="E2E8F0"/>
                </a:solidFill>
                <a:latin typeface="Segoe UI"/>
              </a:rPr>
              <a:t>Orçamentos prévios baseados em cotações diretas de fornecedores sem histórico de homologação costumam inflar os valores de referência.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F1C40F"/>
                </a:solidFill>
                <a:latin typeface="Segoe UI"/>
              </a:rPr>
              <a:t>Deságio Desconhecido: </a:t>
            </a:r>
            <a:r>
              <a:rPr sz="1050">
                <a:solidFill>
                  <a:srgbClr val="E2E8F0"/>
                </a:solidFill>
                <a:latin typeface="Segoe UI"/>
              </a:rPr>
              <a:t>Sem dados regionais consolidados, o órgão licita sem saber que o mercado pratica historicamente deságios superiores a 20%.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F1C40F"/>
                </a:solidFill>
                <a:latin typeface="Segoe UI"/>
              </a:rPr>
              <a:t>Risco ao Erário: </a:t>
            </a:r>
            <a:r>
              <a:rPr sz="1050">
                <a:solidFill>
                  <a:srgbClr val="E2E8F0"/>
                </a:solidFill>
                <a:latin typeface="Segoe UI"/>
              </a:rPr>
              <a:t>Contratações homologadas pelo teto orçado geram desperdício invisível de recursos públicos escassos.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413455" cy="475488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201168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t>DESAFIO 02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Insegurança em Adesões (Caronas)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F1C40F"/>
                </a:solidFill>
                <a:latin typeface="Segoe UI"/>
              </a:rPr>
              <a:t>Acórdão 300/2025 TCE-PI: </a:t>
            </a:r>
            <a:r>
              <a:rPr sz="1050">
                <a:solidFill>
                  <a:srgbClr val="E2E8F0"/>
                </a:solidFill>
                <a:latin typeface="Segoe UI"/>
              </a:rPr>
              <a:t>O Tribunal de Contas passou a exigir comprovação estrita de vantagem local e estudo de viabilidade real para adesões a atas de registro de preços.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F1C40F"/>
                </a:solidFill>
                <a:latin typeface="Segoe UI"/>
              </a:rPr>
              <a:t>Vedação ao Modelo Genérico: </a:t>
            </a:r>
            <a:r>
              <a:rPr sz="1050">
                <a:solidFill>
                  <a:srgbClr val="E2E8F0"/>
                </a:solidFill>
                <a:latin typeface="Segoe UI"/>
              </a:rPr>
              <a:t>A mera cópia de justificativas alheias enseja nulidade e responsabilização pessoal do gestor.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F1C40F"/>
                </a:solidFill>
                <a:latin typeface="Segoe UI"/>
              </a:rPr>
              <a:t>Necessidade de Blindagem: </a:t>
            </a:r>
            <a:r>
              <a:rPr sz="1050">
                <a:solidFill>
                  <a:srgbClr val="E2E8F0"/>
                </a:solidFill>
                <a:latin typeface="Segoe UI"/>
              </a:rPr>
              <a:t>O MPPI precisa de parâmetros empíricos irrefutáveis para fundamentar cada adesão.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413455" cy="475488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201168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t>DESAFIO 03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Sobrecarga da Análise Jurídica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F1C40F"/>
                </a:solidFill>
                <a:latin typeface="Segoe UI"/>
              </a:rPr>
              <a:t>Pareceres Repetitivos: </a:t>
            </a:r>
            <a:r>
              <a:rPr sz="1050">
                <a:solidFill>
                  <a:srgbClr val="E2E8F0"/>
                </a:solidFill>
                <a:latin typeface="Segoe UI"/>
              </a:rPr>
              <a:t>Horas de trabalho técnico desperdiçadas na checagem manual de itens meramente formais de editais e termos de referência.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F1C40F"/>
                </a:solidFill>
                <a:latin typeface="Segoe UI"/>
              </a:rPr>
              <a:t>Retrabalho Constante: </a:t>
            </a:r>
            <a:r>
              <a:rPr sz="1050">
                <a:solidFill>
                  <a:srgbClr val="E2E8F0"/>
                </a:solidFill>
                <a:latin typeface="Segoe UI"/>
              </a:rPr>
              <a:t>Divergências de minutas entre setores causam devoluções frequentes e morosidade no calendário anual de compras.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F1C40F"/>
                </a:solidFill>
                <a:latin typeface="Segoe UI"/>
              </a:rPr>
              <a:t>Falta de RAG Ativo: </a:t>
            </a:r>
            <a:r>
              <a:rPr sz="1050">
                <a:solidFill>
                  <a:srgbClr val="E2E8F0"/>
                </a:solidFill>
                <a:latin typeface="Segoe UI"/>
              </a:rPr>
              <a:t>Dificuldade de cruzar em tempo real as minutas novas com as dezenas de precedentes e orientações vigentes.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  <a:latin typeface="Segoe UI"/>
              </a:defRPr>
            </a:pPr>
            <a:r>
              <a:t>DIFERENCIAÇÃO ESTRATÉGICA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 Verdadeira Inovação: Muito Além das MJRs Tradicionais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4181E"/>
          </a:solidFill>
          <a:ln w="19050"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201168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t>ABORDAGEM TRADICIONAL (ESTÁTICA)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O Que Já Temos: Pareceres e MJRs Existentes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C40F"/>
                </a:solidFill>
                <a:latin typeface="Segoe UI"/>
              </a:rPr>
              <a:t>Modelos Estáticos em PDF: </a:t>
            </a:r>
            <a:r>
              <a:rPr sz="1100">
                <a:solidFill>
                  <a:srgbClr val="E2E8F0"/>
                </a:solidFill>
                <a:latin typeface="Segoe UI"/>
              </a:rPr>
              <a:t>O MPPI possui excelentes Manifestações Jurídicas Referenciais (MJRs 56, 66, 86, 92, 95), mas elas residem como repositórios estáticos.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C40F"/>
                </a:solidFill>
                <a:latin typeface="Segoe UI"/>
              </a:rPr>
              <a:t>Dependência de Leitura Humana: </a:t>
            </a:r>
            <a:r>
              <a:rPr sz="1100">
                <a:solidFill>
                  <a:srgbClr val="E2E8F0"/>
                </a:solidFill>
                <a:latin typeface="Segoe UI"/>
              </a:rPr>
              <a:t>Cada servidor precisa lembrar de consultar e comparar manualmente dezenas de páginas normativas contra cada minuta de TR.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C40F"/>
                </a:solidFill>
                <a:latin typeface="Segoe UI"/>
              </a:rPr>
              <a:t>Lacuna de Dados Empíricos: </a:t>
            </a:r>
            <a:r>
              <a:rPr sz="1100">
                <a:solidFill>
                  <a:srgbClr val="E2E8F0"/>
                </a:solidFill>
                <a:latin typeface="Segoe UI"/>
              </a:rPr>
              <a:t>Pareceres jurídicos orientam sobre a forma da lei, mas não dizem se a impressora, a licença de software ou o veículo estão custando o preço justo de mercado.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C40F"/>
                </a:solidFill>
                <a:latin typeface="Segoe UI"/>
              </a:rPr>
              <a:t>Adesões sem Base Comparativa: </a:t>
            </a:r>
            <a:r>
              <a:rPr sz="1100">
                <a:solidFill>
                  <a:srgbClr val="E2E8F0"/>
                </a:solidFill>
                <a:latin typeface="Segoe UI"/>
              </a:rPr>
              <a:t>Não havia ferramenta capaz de confrontar instantaneamente uma ata federal ou estadual com a média praticada nos tribunais vizinhos.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554480"/>
            <a:ext cx="5212080" cy="4754880"/>
          </a:xfrm>
          <a:prstGeom prst="roundRect">
            <a:avLst/>
          </a:prstGeom>
          <a:solidFill>
            <a:srgbClr val="1A2434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201168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t>INOVAÇÃO ANNONA (DINÂMICA)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O Que o ANNONA Entrega: Inteligência Ativa e Preditiva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C40F"/>
                </a:solidFill>
                <a:latin typeface="Segoe UI"/>
              </a:rPr>
              <a:t>⚡ Auditoria RAG em Segundos: </a:t>
            </a:r>
            <a:r>
              <a:rPr sz="1100">
                <a:solidFill>
                  <a:srgbClr val="E2E8F0"/>
                </a:solidFill>
                <a:latin typeface="Segoe UI"/>
              </a:rPr>
              <a:t>Motor de IA que lê a minuta do processo no SEI e checa automaticamente a conformidade com 100% dos requisitos das MJRs e da Lei 14.133/21.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C40F"/>
                </a:solidFill>
                <a:latin typeface="Segoe UI"/>
              </a:rPr>
              <a:t>📊 Curvas Empíricas de Preço: </a:t>
            </a:r>
            <a:r>
              <a:rPr sz="1100">
                <a:solidFill>
                  <a:srgbClr val="E2E8F0"/>
                </a:solidFill>
                <a:latin typeface="Segoe UI"/>
              </a:rPr>
              <a:t>Base dinâmica de R$ 341M que baliza a negociação do pregoeiro, calculando o deságio esperado para não aceitar propostas superfaturadas.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C40F"/>
                </a:solidFill>
                <a:latin typeface="Segoe UI"/>
              </a:rPr>
              <a:t>🛡️ Blindagem Acórdão 300/2025 TCE-PI: </a:t>
            </a:r>
            <a:r>
              <a:rPr sz="1100">
                <a:solidFill>
                  <a:srgbClr val="E2E8F0"/>
                </a:solidFill>
                <a:latin typeface="Segoe UI"/>
              </a:rPr>
              <a:t>Gera de forma automática e fundamentada a matriz de vantajosidade e o estudo de mercado exigido pelo TCE para adesões a atas.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C40F"/>
                </a:solidFill>
                <a:latin typeface="Segoe UI"/>
              </a:rPr>
              <a:t>🌐 Benchmarking em Tempo Real: </a:t>
            </a:r>
            <a:r>
              <a:rPr sz="1100">
                <a:solidFill>
                  <a:srgbClr val="E2E8F0"/>
                </a:solidFill>
                <a:latin typeface="Segoe UI"/>
              </a:rPr>
              <a:t>Integração viva de 12 portais de contratações do Nordeste (TJPI, MPPE, MPCE, MPDFT, etc.) em uma interface única.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  <a:latin typeface="Segoe UI"/>
              </a:defRPr>
            </a:pPr>
            <a:r>
              <a:t>ARQUITETURA FUNCIONAL EM PRODUÇÃO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 Solução Tecnológica: O Portal ANNONA em 6 Módulos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13455" cy="219456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201168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t>INTEGRAÇÃO NORDESTE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01. Panorama Regional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10.504 atos minerados de 12 órgãos. Visualização completa de licitações, pregões e contratos com cruzamento por CNPJ e modalidade.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413455" cy="219456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201168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t>ESTUDO DE DESÁGIO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02. Curvas de Economicidade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Mapeamento de R$ 68,8 milhões em deságios reais (20,18% médio). Comparação matemática de preços de referência vs. homologados.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413455" cy="219456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201168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t>FERRAMENTA OPERACIONAL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03. Simulador de Negociação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Calculadora interativa para pregoeiros e compradores. Estima o preço final justo e emite alertas visuais contra sobrepreço.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3413455" cy="219456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201168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t>BLINDAGEM JURÍDICA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04. Controle Interno &amp; 3 Linhas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Análise de 662 pareceres e 146 matrizes de risco. Master Checklist interativo de 15 itens essenciais para conformidade total.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931920"/>
            <a:ext cx="3413455" cy="219456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201168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t>MINUTAS PADRONIZADAS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05. Caderno Normativo MPPI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Modelos pré-parametrizados para contratações diretas, adesões (Acórdão 300/2025 TCE-PI) e eventos de capacitação CEAF.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931920"/>
            <a:ext cx="3413455" cy="219456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201168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t>INTELIGÊNCIA ARTIFICIAL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06. Motor RAG Semântico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Busca contextual inteligente na íntegra de todos os editais, TRs e pareceres com resposta sintetizada e cópia em 1 clique.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  <a:latin typeface="Segoe UI"/>
              </a:defRPr>
            </a:pPr>
            <a:r>
              <a:t>IMPACTO MENSURÁVEL PARA O MPPI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Resultados Práticos: Economicidade e Eficiência Orçamentária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13455" cy="292608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spcAft>
                <a:spcPts val="8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t>ECONOMIA REGIONAL MAPEADA</a:t>
            </a:r>
          </a:p>
          <a:p>
            <a:pPr>
              <a:spcAft>
                <a:spcPts val="1000"/>
              </a:spcAft>
              <a:defRPr sz="2600" b="1">
                <a:solidFill>
                  <a:srgbClr val="F8FAFC"/>
                </a:solidFill>
                <a:latin typeface="Segoe UI"/>
              </a:defRPr>
            </a:pPr>
            <a:r>
              <a:t>R$ 68,8 Milhões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Volume acumulado de deságios reais identificados na base de contratações do Nordeste, servindo como régua de negociação.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413455" cy="292608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spcAft>
                <a:spcPts val="8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t>CELERIDADE PROCESSUAL</a:t>
            </a:r>
          </a:p>
          <a:p>
            <a:pPr>
              <a:spcAft>
                <a:spcPts val="1000"/>
              </a:spcAft>
              <a:defRPr sz="2600" b="1">
                <a:solidFill>
                  <a:srgbClr val="F8FAFC"/>
                </a:solidFill>
                <a:latin typeface="Segoe UI"/>
              </a:defRPr>
            </a:pPr>
            <a:r>
              <a:t>-70% do Tempo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Redução drástica no tempo de confecção de Termos de Referência e saneamento de minutas antes do envio à assessoria jurídica.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413455" cy="292608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228600"/>
          <a:lstStyle/>
          <a:p>
            <a:pPr algn="ctr">
              <a:spcAft>
                <a:spcPts val="8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t>CONFORMIDADE TCE-PI</a:t>
            </a:r>
          </a:p>
          <a:p>
            <a:pPr>
              <a:spcAft>
                <a:spcPts val="1000"/>
              </a:spcAft>
              <a:defRPr sz="2600" b="1">
                <a:solidFill>
                  <a:srgbClr val="F8FAFC"/>
                </a:solidFill>
                <a:latin typeface="Segoe UI"/>
              </a:defRPr>
            </a:pPr>
            <a:r>
              <a:t>100% Blindagem</a:t>
            </a:r>
          </a:p>
          <a:p>
            <a:pPr>
              <a:defRPr sz="1050">
                <a:solidFill>
                  <a:srgbClr val="E2E8F0"/>
                </a:solidFill>
                <a:latin typeface="Segoe UI"/>
              </a:defRPr>
            </a:pPr>
            <a:r>
              <a:t>Mitigação integral dos riscos de suspensão cautelar de editais e de rejeição de adesões a atas pelo Acórdão 300/2025.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09160"/>
            <a:ext cx="10728655" cy="1691640"/>
          </a:xfrm>
          <a:prstGeom prst="roundRect">
            <a:avLst/>
          </a:prstGeom>
          <a:solidFill>
            <a:srgbClr val="16202D"/>
          </a:solidFill>
          <a:ln w="19050">
            <a:solidFill>
              <a:srgbClr val="8B15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spcAft>
                <a:spcPts val="600"/>
              </a:spcAft>
              <a:defRPr sz="1200" b="1">
                <a:solidFill>
                  <a:srgbClr val="D4AF37"/>
                </a:solidFill>
                <a:latin typeface="Segoe UI"/>
              </a:defRPr>
            </a:pPr>
            <a:r>
              <a:t>RETORNO INSTITUCIONAL SOBRE O INVESTIMENTO (ROI)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Custo de Desenvolvimento: Zero — concebido e implementado com recursos internos e ferramentas corporativas do próprio MPPI.</a:t>
            </a:r>
            <a:br/>
            <a:r>
              <a:t>• Retorno Financeiro Imediato: Se a inteligência de negociação do ANNONA capturar apenas 1% de economia adicional nos contratos anuais do Ministério Público, o projeto já terá gerado centenas de milhares de reais em economia orçamentária direta para reinvestimento na atividade-fim.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  <a:latin typeface="Segoe UI"/>
              </a:defRPr>
            </a:pPr>
            <a:r>
              <a:t>CATEGORIA: GOVERNANÇA E GESTÃO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Alinhamento Estratégico: Rumo ao Prêmio CNMP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011680" cy="2926080"/>
          </a:xfrm>
          <a:prstGeom prst="roundRect">
            <a:avLst/>
          </a:prstGeom>
          <a:solidFill>
            <a:srgbClr val="19223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0"/>
          <a:lstStyle/>
          <a:p>
            <a:pPr algn="ctr">
              <a:spcAft>
                <a:spcPts val="800"/>
              </a:spcAft>
              <a:defRPr sz="1100" b="1">
                <a:solidFill>
                  <a:srgbClr val="D4AF37"/>
                </a:solidFill>
                <a:latin typeface="Segoe UI"/>
              </a:defRPr>
            </a:pPr>
            <a:r>
              <a:t>1. RESOLUTIVIDADE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Elimina gargalos crônicos na instrução processual e na formação de preços.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554480"/>
            <a:ext cx="2011680" cy="2926080"/>
          </a:xfrm>
          <a:prstGeom prst="roundRect">
            <a:avLst/>
          </a:prstGeom>
          <a:solidFill>
            <a:srgbClr val="19223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0"/>
          <a:lstStyle/>
          <a:p>
            <a:pPr algn="ctr">
              <a:spcAft>
                <a:spcPts val="800"/>
              </a:spcAft>
              <a:defRPr sz="1100" b="1">
                <a:solidFill>
                  <a:srgbClr val="D4AF37"/>
                </a:solidFill>
                <a:latin typeface="Segoe UI"/>
              </a:defRPr>
            </a:pPr>
            <a:r>
              <a:t>2. INOVAÇÃO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Pioneirismo no uso de Inteligência Artificial aplicada ao controle preventivo de compras.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554480"/>
            <a:ext cx="2011680" cy="2926080"/>
          </a:xfrm>
          <a:prstGeom prst="roundRect">
            <a:avLst/>
          </a:prstGeom>
          <a:solidFill>
            <a:srgbClr val="19223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0"/>
          <a:lstStyle/>
          <a:p>
            <a:pPr algn="ctr">
              <a:spcAft>
                <a:spcPts val="800"/>
              </a:spcAft>
              <a:defRPr sz="1100" b="1">
                <a:solidFill>
                  <a:srgbClr val="D4AF37"/>
                </a:solidFill>
                <a:latin typeface="Segoe UI"/>
              </a:defRPr>
            </a:pPr>
            <a:r>
              <a:t>3. PROATIVIDADE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Atua antes da deflagração do certame, prevenindo glosas e impugnações.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199" y="1554480"/>
            <a:ext cx="2011680" cy="2926080"/>
          </a:xfrm>
          <a:prstGeom prst="roundRect">
            <a:avLst/>
          </a:prstGeom>
          <a:solidFill>
            <a:srgbClr val="19223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0"/>
          <a:lstStyle/>
          <a:p>
            <a:pPr algn="ctr">
              <a:spcAft>
                <a:spcPts val="800"/>
              </a:spcAft>
              <a:defRPr sz="1100" b="1">
                <a:solidFill>
                  <a:srgbClr val="D4AF37"/>
                </a:solidFill>
                <a:latin typeface="Segoe UI"/>
              </a:defRPr>
            </a:pPr>
            <a:r>
              <a:t>4. COOPERAÇÃO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Integração viva de dados entre MPs, Tribunais de Justiça e Tribunais de Contas.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554480"/>
            <a:ext cx="2011680" cy="2926080"/>
          </a:xfrm>
          <a:prstGeom prst="roundRect">
            <a:avLst/>
          </a:prstGeom>
          <a:solidFill>
            <a:srgbClr val="192230"/>
          </a:solidFill>
          <a:ln w="1270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82880"/>
          <a:lstStyle/>
          <a:p>
            <a:pPr algn="ctr">
              <a:spcAft>
                <a:spcPts val="800"/>
              </a:spcAft>
              <a:defRPr sz="1100" b="1">
                <a:solidFill>
                  <a:srgbClr val="D4AF37"/>
                </a:solidFill>
                <a:latin typeface="Segoe UI"/>
              </a:defRPr>
            </a:pPr>
            <a:r>
              <a:t>5. TRANSPARÊNCIA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Democratiza o acesso e a auditabilidade de todas as compras da instituição.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709160"/>
            <a:ext cx="10728655" cy="1691640"/>
          </a:xfrm>
          <a:prstGeom prst="roundRect">
            <a:avLst/>
          </a:prstGeom>
          <a:solidFill>
            <a:srgbClr val="191420"/>
          </a:solidFill>
          <a:ln w="19050">
            <a:solidFill>
              <a:srgbClr val="8B15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spcAft>
                <a:spcPts val="600"/>
              </a:spcAft>
              <a:defRPr sz="1200" b="1">
                <a:solidFill>
                  <a:srgbClr val="D4AF37"/>
                </a:solidFill>
                <a:latin typeface="Segoe UI"/>
              </a:defRPr>
            </a:pPr>
            <a:r>
              <a:t>ESTRUTURAÇÃO CONFORME O MANUAL DE PROJETOS DO MPPI (ATOS PGJ 1.025/2020 E 1.254/2022)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Dossiê Completo: Elaborado rigorosamente nos padrões exigidos pela Assessoria de Planejamento e Gestão (APG).</a:t>
            </a:r>
            <a:br/>
            <a:r>
              <a:t>• Duplo Reconhecimento: Candidato natural ao Prêmio Melhores Práticas do MPPI e à representação oficial do Estado do Piauí no Prêmio CNMP 2026, projetando nacionalmente a excelência gerencial da nossa instituição.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  <a:latin typeface="Segoe UI"/>
              </a:defRPr>
            </a:pPr>
            <a:r>
              <a:t>CONFORMIDADE INTEGRAL COM A LEI 14.133/21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Governança e Blindagem: O Modelo das 3 Linhas de Defesa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413455" cy="475488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8B15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201168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t>CLC E COMISSÕES DE CONTRATAÇÃO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1ª LINHA: GESTÃO E OPERAÇÃO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F1C40F"/>
                </a:solidFill>
                <a:latin typeface="Segoe UI"/>
              </a:rPr>
              <a:t>Simulador de Preços: </a:t>
            </a:r>
            <a:r>
              <a:rPr sz="1050">
                <a:solidFill>
                  <a:srgbClr val="E2E8F0"/>
                </a:solidFill>
                <a:latin typeface="Segoe UI"/>
              </a:rPr>
              <a:t>Definição de valores de referência aderentes à realidade regional.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F1C40F"/>
                </a:solidFill>
                <a:latin typeface="Segoe UI"/>
              </a:rPr>
              <a:t>Minutas Parametrizadas: </a:t>
            </a:r>
            <a:r>
              <a:rPr sz="1050">
                <a:solidFill>
                  <a:srgbClr val="E2E8F0"/>
                </a:solidFill>
                <a:latin typeface="Segoe UI"/>
              </a:rPr>
              <a:t>Garantia de que os editais nasçam sem vícios materiais.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F1C40F"/>
                </a:solidFill>
                <a:latin typeface="Segoe UI"/>
              </a:rPr>
              <a:t>Master Checklist (15 itens): </a:t>
            </a:r>
            <a:r>
              <a:rPr sz="1050">
                <a:solidFill>
                  <a:srgbClr val="E2E8F0"/>
                </a:solidFill>
                <a:latin typeface="Segoe UI"/>
              </a:rPr>
              <a:t>Conferência prévia de 100% das exigências legais antes de qualquer envio.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413455" cy="475488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201168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t>APG E CONTROLE INTERNO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2ª LINHA: GESTÃO DE RISCOS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F1C40F"/>
                </a:solidFill>
                <a:latin typeface="Segoe UI"/>
              </a:rPr>
              <a:t>Matrizes de Riscos Automatizadas: </a:t>
            </a:r>
            <a:r>
              <a:rPr sz="1050">
                <a:solidFill>
                  <a:srgbClr val="E2E8F0"/>
                </a:solidFill>
                <a:latin typeface="Segoe UI"/>
              </a:rPr>
              <a:t>Identificação preventiva de eventos críticos em cada contratação.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F1C40F"/>
                </a:solidFill>
                <a:latin typeface="Segoe UI"/>
              </a:rPr>
              <a:t>Monitoramento de Metas: </a:t>
            </a:r>
            <a:r>
              <a:rPr sz="1050">
                <a:solidFill>
                  <a:srgbClr val="E2E8F0"/>
                </a:solidFill>
                <a:latin typeface="Segoe UI"/>
              </a:rPr>
              <a:t>Acompanhamento da economicidade e tempo médio de tramitação.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F1C40F"/>
                </a:solidFill>
                <a:latin typeface="Segoe UI"/>
              </a:rPr>
              <a:t>Aderência Normativa: </a:t>
            </a:r>
            <a:r>
              <a:rPr sz="1050">
                <a:solidFill>
                  <a:srgbClr val="E2E8F0"/>
                </a:solidFill>
                <a:latin typeface="Segoe UI"/>
              </a:rPr>
              <a:t>Alinhamento com o Plano de Contratações Anual (PCA) do MPPI.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413455" cy="475488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201168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t>ASSESSORIA JURÍDICA E AUDITORIA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3ª LINHA: AVALIAÇÃO INDEPENDENTE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F1C40F"/>
                </a:solidFill>
                <a:latin typeface="Segoe UI"/>
              </a:rPr>
              <a:t>Processos Pré-Saneados: </a:t>
            </a:r>
            <a:r>
              <a:rPr sz="1050">
                <a:solidFill>
                  <a:srgbClr val="E2E8F0"/>
                </a:solidFill>
                <a:latin typeface="Segoe UI"/>
              </a:rPr>
              <a:t>A Assessoria Jurídica recebe processos instruídos e validados matematicamente.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F1C40F"/>
                </a:solidFill>
                <a:latin typeface="Segoe UI"/>
              </a:rPr>
              <a:t>Fim das Devoluções: </a:t>
            </a:r>
            <a:r>
              <a:rPr sz="1050">
                <a:solidFill>
                  <a:srgbClr val="E2E8F0"/>
                </a:solidFill>
                <a:latin typeface="Segoe UI"/>
              </a:rPr>
              <a:t>Eliminação de diligências desnecessárias por falta de documentos formais.</a:t>
            </a:r>
          </a:p>
          <a:p>
            <a:pPr>
              <a:spcAft>
                <a:spcPts val="800"/>
              </a:spcAft>
            </a:pPr>
            <a:r>
              <a:rPr sz="1050" b="1">
                <a:solidFill>
                  <a:srgbClr val="F1C40F"/>
                </a:solidFill>
                <a:latin typeface="Segoe UI"/>
              </a:rPr>
              <a:t>Segurança Decisória: </a:t>
            </a:r>
            <a:r>
              <a:rPr sz="1050">
                <a:solidFill>
                  <a:srgbClr val="E2E8F0"/>
                </a:solidFill>
                <a:latin typeface="Segoe UI"/>
              </a:rPr>
              <a:t>O Procurador-Geral de Justiça homologa contratações 100% blindadas.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  <a:latin typeface="Segoe UI"/>
              </a:defRPr>
            </a:pPr>
            <a:r>
              <a:t>CRONOGRAMA DE IMPLANTAÇÃO E GOVERNANÇA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Roteiro de Formalização: Próximos Passos no SEI / MPPI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2514600" cy="292608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0"/>
          <a:lstStyle/>
          <a:p>
            <a:pPr algn="ctr">
              <a:spcAft>
                <a:spcPts val="6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t>CLC / INÍCIO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Passo 01: Autuação no SEI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Abertura de processo administrativo sob o tipo 'Gestão Estratégica: Projetos Institucionais' com o Despacho Inicial da CLC.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554480"/>
            <a:ext cx="2514600" cy="292608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0"/>
          <a:lstStyle/>
          <a:p>
            <a:pPr algn="ctr">
              <a:spcAft>
                <a:spcPts val="6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t>METODOLOGIA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Passo 02: Validação na APG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Encaminhamento à Assessoria de Planejamento e Gestão para registro formal do TAP e alinhamento ao Ato PGJ nº 1.025/2020.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554480"/>
            <a:ext cx="2514600" cy="292608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0"/>
          <a:lstStyle/>
          <a:p>
            <a:pPr algn="ctr">
              <a:spcAft>
                <a:spcPts val="6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t>INSTITUCIONALIZAÇÃO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Passo 03: Portaria da PGJ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Publicação de ato oficial da Procuradoria-Geral instituindo o projeto e designando a comissão técnica gestora.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554480"/>
            <a:ext cx="2514600" cy="292608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82880"/>
          <a:lstStyle/>
          <a:p>
            <a:pPr algn="ctr">
              <a:spcAft>
                <a:spcPts val="6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t>RECONHECIMENTO</a:t>
            </a:r>
          </a:p>
          <a:p>
            <a:pPr>
              <a:spcAft>
                <a:spcPts val="800"/>
              </a:spcAft>
              <a:defRPr sz="1300" b="1">
                <a:solidFill>
                  <a:srgbClr val="F8FAFC"/>
                </a:solidFill>
                <a:latin typeface="Segoe UI"/>
              </a:defRPr>
            </a:pPr>
            <a:r>
              <a:t>Passo 04: Inscrição no CNMP</a:t>
            </a:r>
          </a:p>
          <a:p>
            <a:pPr>
              <a:defRPr sz="1000">
                <a:solidFill>
                  <a:srgbClr val="E2E8F0"/>
                </a:solidFill>
                <a:latin typeface="Segoe UI"/>
              </a:defRPr>
            </a:pPr>
            <a:r>
              <a:t>Submissão do dossiê ao Banco Nacional de Projetos do CNMP para concorrer na premiação nacional de 2026.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09160"/>
            <a:ext cx="10728655" cy="1691640"/>
          </a:xfrm>
          <a:prstGeom prst="roundRect">
            <a:avLst/>
          </a:prstGeom>
          <a:solidFill>
            <a:srgbClr val="14201C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spcAft>
                <a:spcPts val="600"/>
              </a:spcAft>
              <a:defRPr sz="1200" b="1">
                <a:solidFill>
                  <a:srgbClr val="2ECC71"/>
                </a:solidFill>
                <a:latin typeface="Segoe UI"/>
              </a:defRPr>
            </a:pPr>
            <a:r>
              <a:t>ESTADO DE PRONTIDÃO: 100% DOS DOCUMENTOS JÁ REDIGIDOS</a:t>
            </a:r>
          </a:p>
          <a:p>
            <a:pPr>
              <a:defRPr sz="1100">
                <a:solidFill>
                  <a:srgbClr val="E2E8F0"/>
                </a:solidFill>
                <a:latin typeface="Segoe UI"/>
              </a:defRPr>
            </a:pPr>
            <a:r>
              <a:t>• Minuta do Despacho Inicial da CLC: Pronta para autuação imediata no SEI.</a:t>
            </a:r>
            <a:br/>
            <a:r>
              <a:t>• Termo de Abertura de Projeto (TAP): Preenchido em todos os 10 campos obrigatórios do Manual da APG.</a:t>
            </a:r>
            <a:br/>
            <a:r>
              <a:t>• Código do Portal Web: Operacional e hospedado com os 6 módulos integrados prontos para demonstração.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8B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D4AF37"/>
                </a:solidFill>
                <a:latin typeface="Segoe UI"/>
              </a:defRPr>
            </a:pPr>
            <a:r>
              <a:t>ENCAMINHAMENTO E DECISÃO</a:t>
            </a:r>
          </a:p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Conclusão Executiva: Deliberações Solicitadas à PGJ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212080" cy="3931920"/>
          </a:xfrm>
          <a:prstGeom prst="roundRect">
            <a:avLst/>
          </a:prstGeom>
          <a:solidFill>
            <a:srgbClr val="192230"/>
          </a:solidFill>
          <a:ln w="19050">
            <a:solidFill>
              <a:srgbClr val="2D3A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201168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t>BENEFÍCIOS ESTRATÉGICOS CONSOLIDADOS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O Que o MPPI Conquista com o Projeto ANNONA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C40F"/>
                </a:solidFill>
                <a:latin typeface="Segoe UI"/>
              </a:rPr>
              <a:t>1. Liderança Regional: </a:t>
            </a:r>
            <a:r>
              <a:rPr sz="1100">
                <a:solidFill>
                  <a:srgbClr val="E2E8F0"/>
                </a:solidFill>
                <a:latin typeface="Segoe UI"/>
              </a:rPr>
              <a:t>O MPPI se torna referência entre os órgãos públicos no uso inteligente de dados de contratações.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C40F"/>
                </a:solidFill>
                <a:latin typeface="Segoe UI"/>
              </a:rPr>
              <a:t>2. Proteção Jurídica Total: </a:t>
            </a:r>
            <a:r>
              <a:rPr sz="1100">
                <a:solidFill>
                  <a:srgbClr val="E2E8F0"/>
                </a:solidFill>
                <a:latin typeface="Segoe UI"/>
              </a:rPr>
              <a:t>Blindagem técnica da Administração Superior contra apontamentos do TCE-PI e controle externo.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C40F"/>
                </a:solidFill>
                <a:latin typeface="Segoe UI"/>
              </a:rPr>
              <a:t>3. Economicidade Real: </a:t>
            </a:r>
            <a:r>
              <a:rPr sz="1100">
                <a:solidFill>
                  <a:srgbClr val="E2E8F0"/>
                </a:solidFill>
                <a:latin typeface="Segoe UI"/>
              </a:rPr>
              <a:t>Aumento comprovado do deságio nas compras e maximização de cada centavo do orçamento.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C40F"/>
                </a:solidFill>
                <a:latin typeface="Segoe UI"/>
              </a:rPr>
              <a:t>4. Reconhecimento Nacional: </a:t>
            </a:r>
            <a:r>
              <a:rPr sz="1100">
                <a:solidFill>
                  <a:srgbClr val="E2E8F0"/>
                </a:solidFill>
                <a:latin typeface="Segoe UI"/>
              </a:rPr>
              <a:t>Candidatura sólida e com altíssima probabilidade de premiação no Prêmio CNMP 2026.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48095" y="1554480"/>
            <a:ext cx="5212080" cy="3931920"/>
          </a:xfrm>
          <a:prstGeom prst="roundRect">
            <a:avLst/>
          </a:prstGeom>
          <a:solidFill>
            <a:srgbClr val="1A2434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01168" bIns="201168"/>
          <a:lstStyle/>
          <a:p>
            <a:pPr algn="ctr">
              <a:spcAft>
                <a:spcPts val="400"/>
              </a:spcAft>
              <a:defRPr sz="900" b="1">
                <a:solidFill>
                  <a:srgbClr val="D4AF37"/>
                </a:solidFill>
                <a:latin typeface="Segoe UI"/>
              </a:defRPr>
            </a:pPr>
            <a:r>
              <a:t>DELIBERAÇÕES DA ADMINISTRAÇÃO</a:t>
            </a:r>
          </a:p>
          <a:p>
            <a:pPr>
              <a:spcAft>
                <a:spcPts val="800"/>
              </a:spcAft>
              <a:defRPr sz="1400" b="1">
                <a:solidFill>
                  <a:srgbClr val="F8FAFC"/>
                </a:solidFill>
                <a:latin typeface="Segoe UI"/>
              </a:defRPr>
            </a:pPr>
            <a:r>
              <a:t>Proposições Práticas Submetidas à Decisão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C40F"/>
                </a:solidFill>
                <a:latin typeface="Segoe UI"/>
              </a:rPr>
              <a:t>1. Autorização para Autuação: </a:t>
            </a:r>
            <a:r>
              <a:rPr sz="1100">
                <a:solidFill>
                  <a:srgbClr val="E2E8F0"/>
                </a:solidFill>
                <a:latin typeface="Segoe UI"/>
              </a:rPr>
              <a:t>Aprovação do início formal do processo administrativo no SEI/MPPI sob a responsabilidade da CLC.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C40F"/>
                </a:solidFill>
                <a:latin typeface="Segoe UI"/>
              </a:rPr>
              <a:t>2. Acolhimento pela APG: </a:t>
            </a:r>
            <a:r>
              <a:rPr sz="1100">
                <a:solidFill>
                  <a:srgbClr val="E2E8F0"/>
                </a:solidFill>
                <a:latin typeface="Segoe UI"/>
              </a:rPr>
              <a:t>Envio do TAP à Assessoria de Planejamento e Gestão para inclusão na carteira de projetos prioritários.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C40F"/>
                </a:solidFill>
                <a:latin typeface="Segoe UI"/>
              </a:rPr>
              <a:t>3. Publicação de Portaria PGJ: </a:t>
            </a:r>
            <a:r>
              <a:rPr sz="1100">
                <a:solidFill>
                  <a:srgbClr val="E2E8F0"/>
                </a:solidFill>
                <a:latin typeface="Segoe UI"/>
              </a:rPr>
              <a:t>Chancela oficial do Projeto ANNONA no Diário Oficial Eletrônico do MPPI.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1C40F"/>
                </a:solidFill>
                <a:latin typeface="Segoe UI"/>
              </a:rPr>
              <a:t>4. Inscrição no Prêmio CNMP: </a:t>
            </a:r>
            <a:r>
              <a:rPr sz="1100">
                <a:solidFill>
                  <a:srgbClr val="E2E8F0"/>
                </a:solidFill>
                <a:latin typeface="Segoe UI"/>
              </a:rPr>
              <a:t>Autorização para preparação da submissão na Categoria Governança e Gestão em 2026.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623560"/>
            <a:ext cx="10728655" cy="777240"/>
          </a:xfrm>
          <a:prstGeom prst="roundRect">
            <a:avLst/>
          </a:prstGeom>
          <a:solidFill>
            <a:srgbClr val="1E141C"/>
          </a:solidFill>
          <a:ln w="1905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09728"/>
          <a:lstStyle/>
          <a:p>
            <a:pPr algn="ctr">
              <a:defRPr sz="1200" b="1">
                <a:solidFill>
                  <a:srgbClr val="D4AF37"/>
                </a:solidFill>
                <a:latin typeface="Segoe UI"/>
              </a:defRPr>
            </a:pPr>
            <a:r>
              <a:t>"PROJETO ANNONA: Governança, Preço Justo e Segurança Jurídica para o Ministério Público do Estado do Piauí."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