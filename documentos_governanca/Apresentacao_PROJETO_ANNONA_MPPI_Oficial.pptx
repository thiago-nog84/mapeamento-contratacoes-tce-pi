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1 - Abertura):</a:t>
            </a:r>
          </a:p>
          <a:p>
            <a:r>
              <a:t>Senhor Procurador-Geral de Justiça, Membros da Administração Superior e da APG.</a:t>
            </a:r>
          </a:p>
          <a:p>
            <a:r>
              <a:t>Apresentamos hoje o PROJETO ANNONA — concebido na Coordenadoria de Licitações e Contratos (CLC) para alçar as contratações públicas do MPPI a um patamar inédito de maturidade, segurança jurídica e eficiência orçamentária.</a:t>
            </a:r>
          </a:p>
          <a:p>
            <a:r>
              <a:t>Com base em mais de R$ 341 milhões analisados em 12 instituições da região, este projeto traz inovação tecnológica viva e atende integralmente aos requisitos de governança do Ato PGJ nº 1.025/2020 e aos critérios do Prêmio CNMP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2 - Origem):</a:t>
            </a:r>
          </a:p>
          <a:p>
            <a:r>
              <a:t>Batizamos esta iniciativa de PROJETO ANNONA em homenagem à histórica magistratura romana da Cura Annonae, instituída no ano 7 para zelar pelo suprimento público e garantir que o Estado não fosse lesado por preços abusivos.</a:t>
            </a:r>
          </a:p>
          <a:p>
            <a:r>
              <a:t>Para o Ministério Público, órgão guardião da moralidade e do patrimônio público, esse nome traz autoridade moral indiscutível e traduz a nossa missão: proteger o erário e dotar a instituição dos melhores suprimentos pelo preço justo.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3 - Diagnóstico):</a:t>
            </a:r>
          </a:p>
          <a:p>
            <a:r>
              <a:t>O cenário que enfrentamos hoje: assimetria severa de informações de mercado, um novo posicionamento muito rigoroso do Tribunal de Contas no Acórdão 300/2025 para caronas, e sobrecarga nas equipes de instrução e análise jurídica.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4 - Inovação e Gráfico Antes/Depois):</a:t>
            </a:r>
          </a:p>
          <a:p>
            <a:r>
              <a:t>O Projeto ANNONA não concorre com as MJRs da PGJ; ele é a tecnologia que torna as MJRs automatizadas e aplicáveis em segundos.</a:t>
            </a:r>
          </a:p>
          <a:p>
            <a:r>
              <a:t>Vejam no gráfico o impacto concreto: o tempo de instrução despenca de 35 para 10 dias, as devoluções para diligência caem de 45% para 12%, e as adesões a atas passam a ter 100% de blindagem jurídica.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5 - Demonstração dos Módulos e Dados):</a:t>
            </a:r>
          </a:p>
          <a:p>
            <a:r>
              <a:t>O Portal ANNONA já está em funcionamento em nosso ambiente. Como vemos no gráfico, mineramos um universo de 10.504 atos de compra distribuídos em pregões eletrônicos, dispensas, inexigibilidades e adesões a atas, alimentando diretamente os 6 módulos do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6 - Economicidade e Curva de Deságio):</a:t>
            </a:r>
          </a:p>
          <a:p>
            <a:r>
              <a:t>Observem o gráfico à direita com a curva de deságio regional: a média no Nordeste é de 20,18% de deságio.</a:t>
            </a:r>
          </a:p>
          <a:p>
            <a:r>
              <a:t>O MPPI tem como meta empírica se alinhar a esse padrão de excelência, evitando comprar pelo preço de catálogo.</a:t>
            </a:r>
          </a:p>
          <a:p>
            <a:r>
              <a:t>Desenvolvido sem custo adicional para a instituição, o projeto oferece um ROI formidável: apenas 1% de economia a mais em nossos grandes contratos já representa centenas de milhares de reais economizados para reinvestimento institucional.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7 - Prêmio CNMP):</a:t>
            </a:r>
          </a:p>
          <a:p>
            <a:r>
              <a:t>O gráfico radar evidencia visualmente a aderência do Projeto ANNONA aos cinco critérios eliminatórios e classificatórios do Prêmio CNMP na Categoria Governança e Gestão.</a:t>
            </a:r>
          </a:p>
          <a:p>
            <a:r>
              <a:t>O projeto cumpre com excelência cada quesito e foi desenhado nos moldes do Manual de Projetos do MPPI, posicionando nossa instituição para disputar o topo do pódio 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8 - Três Linhas de Defesa):</a:t>
            </a:r>
          </a:p>
          <a:p>
            <a:r>
              <a:t>O Projeto ANNONA fortalece cada uma das três linhas de defesa do MPPI:</a:t>
            </a:r>
          </a:p>
          <a:p>
            <a:r>
              <a:t>Dá poder operacional à CLC, fornece inteligência de riscos à APG e ao Controle Interno, e entrega processos limpos e seguros para a Assessoria Jurídica e para a decisão do Procurador-Geral de Justiça.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9 - Roteiro SEI):</a:t>
            </a:r>
          </a:p>
          <a:p>
            <a:r>
              <a:t>Todos os documentos para autuação imediata no SEI estão redigidos. A proposta exige esforço de tramitação reduzido e conta com total conformidade com o Manual de Projetos do MPPI.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005840"/>
            <a:ext cx="2103120" cy="14009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914400"/>
            <a:ext cx="8321040" cy="4114800"/>
          </a:xfrm>
          <a:prstGeom prst="rect">
            <a:avLst/>
          </a:prstGeom>
          <a:solidFill>
            <a:srgbClr val="141B26"/>
          </a:solidFill>
          <a:ln w="2540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11480"/>
          <a:lstStyle/>
          <a:p>
            <a:pPr algn="ctr">
              <a:spcAft>
                <a:spcPts val="1200"/>
              </a:spcAft>
            </a:pPr>
            <a:r>
              <a:rPr sz="1100" b="1">
                <a:solidFill>
                  <a:srgbClr val="A60225"/>
                </a:solidFill>
                <a:latin typeface="Calibri"/>
              </a:rPr>
              <a:t>CLC  |  </a:t>
            </a:r>
            <a:r>
              <a:rPr sz="1100" b="1">
                <a:solidFill>
                  <a:srgbClr val="94A3B8"/>
                </a:solidFill>
                <a:latin typeface="Calibri"/>
              </a:rPr>
              <a:t>COORDENADORIA DE LICITAÇÕES E CONTRATOS DO MPPI</a:t>
            </a:r>
          </a:p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PROJETO ANNONA</a:t>
            </a:r>
          </a:p>
          <a:p>
            <a:pPr>
              <a:spcAft>
                <a:spcPts val="1400"/>
              </a:spcAft>
              <a:defRPr sz="1700">
                <a:solidFill>
                  <a:srgbClr val="D4AF37"/>
                </a:solidFill>
                <a:latin typeface="Calibri"/>
              </a:defRPr>
            </a:pPr>
            <a:r>
              <a:t>Observatório de Governança, Preços e Inteligência em Contratações Públicas</a:t>
            </a:r>
          </a:p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Transformando dados de compras públicas em blindagem jurídica, economicidade comprovada e candidatura ao Prêmio CNMP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57800"/>
            <a:ext cx="3413455" cy="10972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R$ 341.6M+</a:t>
            </a:r>
          </a:p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Volume Regional Analisado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12 Órgãos do Nordeste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257800"/>
            <a:ext cx="3413455" cy="10972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20,18%</a:t>
            </a:r>
          </a:p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Deságio Médio em Licitações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R$ 68,8M em Economia Mapeada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257800"/>
            <a:ext cx="3413455" cy="10972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000" b="1">
                <a:solidFill>
                  <a:srgbClr val="D4AF37"/>
                </a:solidFill>
                <a:latin typeface="Calibri"/>
              </a:defRPr>
            </a:pPr>
            <a:r>
              <a:t>10.504</a:t>
            </a:r>
          </a:p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Contratos e Editais Minerados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Motor de IA / RAG em Tempo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IDENTIDADE INSTITUCIONAL E CONCEITO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Origem Histórica: Por que batizamos de 'PROJETO ANNONA'?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5212080" cy="393192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RAÍZES DO DIREITO PÚBLICO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A Tradição Clássica: A 'Cura Annonae' (7 d.C.)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Origem Histórica: </a:t>
            </a:r>
            <a:r>
              <a:rPr sz="1050">
                <a:solidFill>
                  <a:srgbClr val="FFFFFF"/>
                </a:solidFill>
                <a:latin typeface="Calibri"/>
              </a:rPr>
              <a:t>Criada no principado de Augusto, a Cura Annonae foi a primeira magistratura pública dedicada a planejar suprimentos e fiscalizar contratos.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Missão Central: </a:t>
            </a:r>
            <a:r>
              <a:rPr sz="1050">
                <a:solidFill>
                  <a:srgbClr val="FFFFFF"/>
                </a:solidFill>
                <a:latin typeface="Calibri"/>
              </a:rPr>
              <a:t>Evitar desabastecimentos, assegurar a integridade logística do Estado e combater a especulação e o sobrepreço nas compras públicas.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O Magistrado Annona: </a:t>
            </a:r>
            <a:r>
              <a:rPr sz="1050">
                <a:solidFill>
                  <a:srgbClr val="FFFFFF"/>
                </a:solidFill>
                <a:latin typeface="Calibri"/>
              </a:rPr>
              <a:t>Tinha jurisdição expressa sobre transportes, armazenamento e formação de preços justos, sendo a gênese do dever republicano de eficiência.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Peso Institucional: </a:t>
            </a:r>
            <a:r>
              <a:rPr sz="1050">
                <a:solidFill>
                  <a:srgbClr val="FFFFFF"/>
                </a:solidFill>
                <a:latin typeface="Calibri"/>
              </a:rPr>
              <a:t>Conecta a identidade da CLC/MPPI à mais sólida tradição jurídica clássica, superando siglas genéricas com um símbolo de liderança moral e técnica.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393192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APLICAÇÃO NO SÉCULO XXI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A Transposição Moderna: Inteligência para o MPPI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Governança Proativa: </a:t>
            </a:r>
            <a:r>
              <a:rPr sz="1050">
                <a:solidFill>
                  <a:srgbClr val="FFFFFF"/>
                </a:solidFill>
                <a:latin typeface="Calibri"/>
              </a:rPr>
              <a:t>Não se trata de burocracia punitiva a posteriori, mas de inteligência preventiva na primeira linha de defesa das contratações institucionais.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A Busca do Preço Justo: </a:t>
            </a:r>
            <a:r>
              <a:rPr sz="1050">
                <a:solidFill>
                  <a:srgbClr val="FFFFFF"/>
                </a:solidFill>
                <a:latin typeface="Calibri"/>
              </a:rPr>
              <a:t>O Estado não pode comprar pelo preço de catálogo sem conhecer o comportamento real do mercado licitatório e os deságios praticados.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Segurança para os Gestores: </a:t>
            </a:r>
            <a:r>
              <a:rPr sz="1050">
                <a:solidFill>
                  <a:srgbClr val="FFFFFF"/>
                </a:solidFill>
                <a:latin typeface="Calibri"/>
              </a:rPr>
              <a:t>Blindagem completa das decisões administrativas contra contestações e auditorias do Tribunal de Contas (TCE-PI).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Inovação com Rigor: </a:t>
            </a:r>
            <a:r>
              <a:rPr sz="1050">
                <a:solidFill>
                  <a:srgbClr val="FFFFFF"/>
                </a:solidFill>
                <a:latin typeface="Calibri"/>
              </a:rPr>
              <a:t>Aliamos o peso histórico da magistratura ao poder contemporâneo da Inteligência Artificial e da Ciência de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E141C"/>
          </a:solidFill>
          <a:ln w="1270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i="1">
                <a:solidFill>
                  <a:srgbClr val="D4AF37"/>
                </a:solidFill>
                <a:latin typeface="Calibri"/>
              </a:defRPr>
            </a:pPr>
            <a:r>
              <a:t>"Da Roma Imperial à era da Inteligência Artificial: o compromisso republicano com o preço justo, a integridade dos processos e a perenidade dos serviços públicos."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DIAGNÓSTICO E CONTEXTO DE RISCO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O Problema Real: Desafios Críticos nas Contratações Públicas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DESAFIO 01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Assimetria de Preços no Mercado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Cotações Infladas: </a:t>
            </a:r>
            <a:r>
              <a:rPr sz="1000">
                <a:solidFill>
                  <a:srgbClr val="FFFFFF"/>
                </a:solidFill>
                <a:latin typeface="Calibri"/>
              </a:rPr>
              <a:t>Orçamentos prévios baseados em cotações diretas sem histórico de homologação costumam inflar os valores de referência.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Deságio Desconhecido: </a:t>
            </a:r>
            <a:r>
              <a:rPr sz="1000">
                <a:solidFill>
                  <a:srgbClr val="FFFFFF"/>
                </a:solidFill>
                <a:latin typeface="Calibri"/>
              </a:rPr>
              <a:t>Sem dados regionais consolidados, o órgão licita sem saber que o mercado pratica deságios superiores a 20%.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Risco ao Erário: </a:t>
            </a:r>
            <a:r>
              <a:rPr sz="1000">
                <a:solidFill>
                  <a:srgbClr val="FFFFFF"/>
                </a:solidFill>
                <a:latin typeface="Calibri"/>
              </a:rPr>
              <a:t>Contratações homologadas pelo teto orçado geram desperdício invisível de recursos públicos escassos.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DESAFIO 02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Insegurança em Adesões (Caronas)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Acórdão 300/2025 TCE-PI: </a:t>
            </a:r>
            <a:r>
              <a:rPr sz="1000">
                <a:solidFill>
                  <a:srgbClr val="FFFFFF"/>
                </a:solidFill>
                <a:latin typeface="Calibri"/>
              </a:rPr>
              <a:t>O Tribunal de Contas passou a exigir comprovação estrita de vantagem local e estudo de viabilidade real para adesões a atas.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Vedação ao Modelo Genérico: </a:t>
            </a:r>
            <a:r>
              <a:rPr sz="1000">
                <a:solidFill>
                  <a:srgbClr val="FFFFFF"/>
                </a:solidFill>
                <a:latin typeface="Calibri"/>
              </a:rPr>
              <a:t>A mera cópia de justificativas alheias enseja nulidade e responsabilização pessoal do gestor.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Necessidade de Blindagem: </a:t>
            </a:r>
            <a:r>
              <a:rPr sz="1000">
                <a:solidFill>
                  <a:srgbClr val="FFFFFF"/>
                </a:solidFill>
                <a:latin typeface="Calibri"/>
              </a:rPr>
              <a:t>O MPPI precisa de parâmetros empíricos irrefutáveis para fundamentar cada adesão.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DESAFIO 03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Sobrecarga da Análise Jurídica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Pareceres Repetitivos: </a:t>
            </a:r>
            <a:r>
              <a:rPr sz="1000">
                <a:solidFill>
                  <a:srgbClr val="FFFFFF"/>
                </a:solidFill>
                <a:latin typeface="Calibri"/>
              </a:rPr>
              <a:t>Horas de trabalho técnico desperdiçadas na checagem manual de itens meramente formais de editais e termos de referência.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Retrabalho Constante: </a:t>
            </a:r>
            <a:r>
              <a:rPr sz="1000">
                <a:solidFill>
                  <a:srgbClr val="FFFFFF"/>
                </a:solidFill>
                <a:latin typeface="Calibri"/>
              </a:rPr>
              <a:t>Divergências de minutas entre setores causam devoluções frequentes e morosidade no calendário de compras.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Falta de RAG Ativo: </a:t>
            </a:r>
            <a:r>
              <a:rPr sz="1000">
                <a:solidFill>
                  <a:srgbClr val="FFFFFF"/>
                </a:solidFill>
                <a:latin typeface="Calibri"/>
              </a:rPr>
              <a:t>Dificuldade de cruzar em tempo real as minutas novas com os precedentes e orientações vigentes.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DIFERENCIAÇÃO ESTRATÉGICA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 Verdadeira Inovação: Muito Além das MJRs Tradicionais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SALTO DE MATURIDADE GERENCIAL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Inteligência Ativa vs. Documentos Estáticos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O que o MPPI já possui: </a:t>
            </a:r>
            <a:r>
              <a:rPr sz="1050">
                <a:solidFill>
                  <a:srgbClr val="FFFFFF"/>
                </a:solidFill>
                <a:latin typeface="Calibri"/>
              </a:rPr>
              <a:t>Excelentes Manifestações Jurídicas Referenciais (MJRs 56, 66, 86, 92, 95) da PGJ, porém residem em repositórios estáticos em PDF.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A Inovação do ANNONA: </a:t>
            </a:r>
            <a:r>
              <a:rPr sz="1050">
                <a:solidFill>
                  <a:srgbClr val="FFFFFF"/>
                </a:solidFill>
                <a:latin typeface="Calibri"/>
              </a:rPr>
              <a:t>O ANNONA é o motor de execução ativo que lê a minuta do processo no SEI e audita 100% dos requisitos das MJRs em segundos com IA / RAG.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Blindagem Acórdão 300/2025: </a:t>
            </a:r>
            <a:r>
              <a:rPr sz="1050">
                <a:solidFill>
                  <a:srgbClr val="FFFFFF"/>
                </a:solidFill>
                <a:latin typeface="Calibri"/>
              </a:rPr>
              <a:t>Gera automaticamente o estudo de viabilidade local e a justificativa de vantajosidade exigida pelo TCE-PI para adesões a atas.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Curvas Empíricas Reais: </a:t>
            </a:r>
            <a:r>
              <a:rPr sz="1050">
                <a:solidFill>
                  <a:srgbClr val="FFFFFF"/>
                </a:solidFill>
                <a:latin typeface="Calibri"/>
              </a:rPr>
              <a:t>Substitui estimativas pontuais por inteligência estatística de deságio regional com R$ 341M analisados.</a:t>
            </a:r>
          </a:p>
        </p:txBody>
      </p:sp>
      <p:pic>
        <p:nvPicPr>
          <p:cNvPr id="7" name="Picture 6" descr="grafico_antes_dep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54480"/>
            <a:ext cx="5303520" cy="33907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5166360"/>
            <a:ext cx="5303520" cy="114300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GANHO DE PERFORMANCE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Impacto Comprovado na Eficiência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Resultados: </a:t>
            </a:r>
            <a:r>
              <a:rPr sz="1000">
                <a:solidFill>
                  <a:srgbClr val="FFFFFF"/>
                </a:solidFill>
                <a:latin typeface="Calibri"/>
              </a:rPr>
              <a:t>Queda de 35 para 10 dias no tempo de instrução e redução de 45% para 12% em diligências jurídicas.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ARQUITETURA FUNCIONAL EM PRODUÇÃO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 Solução Tecnológica: O Portal ANNONA em 6 Módulos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5669280" cy="1051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01. Panorama Regional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10.504 atos minerados de 12 órgãos. Cruzamento completo por CNPJ e modalidade.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669280" cy="1051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02. Curvas de Economicidade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Mapeamento de R$ 68,8 milhões em deságios reais (20,18% médio).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669280" cy="1051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03. Simulador de Negociação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Calculadora interativa para pregoeiros estimarem o deságio justo.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5669280" cy="1051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04. Controle Interno &amp; 3 Linhas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662 pareceres e 146 matrizes de risco. Master Checklist de 15 itens.</a:t>
            </a:r>
          </a:p>
        </p:txBody>
      </p:sp>
      <p:pic>
        <p:nvPicPr>
          <p:cNvPr id="10" name="Picture 9" descr="grafico_composicao_a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08760"/>
            <a:ext cx="4800600" cy="367210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75120" y="5120640"/>
            <a:ext cx="4800600" cy="118872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FERRAMENTAS ATIVAS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05. Caderno Normativo &amp; 06. RAG Semântico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Minutas &amp; Busca: </a:t>
            </a:r>
            <a:r>
              <a:rPr sz="1000">
                <a:solidFill>
                  <a:srgbClr val="FFFFFF"/>
                </a:solidFill>
                <a:latin typeface="Calibri"/>
              </a:rPr>
              <a:t>Minutas pré-parametrizadas (dispensas, caronas, CEAF) e motor de busca com IA generativa em linguagem natural.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IMPACTO MENSURÁVEL PARA O MPPI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Resultados Práticos: Economicidade e Eficiência Orçamentária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5120640" cy="1115568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/>
            <a:r>
              <a:rPr sz="1800" b="1">
                <a:solidFill>
                  <a:srgbClr val="D4AF37"/>
                </a:solidFill>
                <a:latin typeface="Calibri"/>
              </a:rPr>
              <a:t>R$ 68,8 Milhões  </a:t>
            </a:r>
            <a:r>
              <a:rPr sz="900" b="1">
                <a:solidFill>
                  <a:srgbClr val="94A3B8"/>
                </a:solidFill>
                <a:latin typeface="Calibri"/>
              </a:rPr>
              <a:t>• ECONOMIA REGIONAL MAPEADA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Volume de deságios reais identificados na base de contratações dos 12 órgãos.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5120640" cy="1115568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-70% do Tempo  </a:t>
            </a:r>
            <a:r>
              <a:rPr sz="900" b="1">
                <a:solidFill>
                  <a:srgbClr val="94A3B8"/>
                </a:solidFill>
                <a:latin typeface="Calibri"/>
              </a:rPr>
              <a:t>• CELERIDADE PROCESSUAL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Redução drástica no tempo de confecção de TRs e saneamento de minutas.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1115568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100% Blindagem  </a:t>
            </a:r>
            <a:r>
              <a:rPr sz="900" b="1">
                <a:solidFill>
                  <a:srgbClr val="94A3B8"/>
                </a:solidFill>
                <a:latin typeface="Calibri"/>
              </a:rPr>
              <a:t>• CONFORMIDADE TCE-PI</a:t>
            </a:r>
          </a:p>
          <a:p>
            <a:pPr>
              <a:defRPr sz="950">
                <a:solidFill>
                  <a:srgbClr val="FFFFFF"/>
                </a:solidFill>
                <a:latin typeface="Calibri"/>
              </a:defRPr>
            </a:pPr>
            <a:r>
              <a:t>Mitigação integral dos riscos de suspensão de editais pelo Acórdão 300/2025.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49240"/>
            <a:ext cx="5120640" cy="1051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CUSTO DE DESENVOLVIMENTO: ZERO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Retorno Financeiro Imediato (ROI)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D4AF37"/>
                </a:solidFill>
                <a:latin typeface="Calibri"/>
              </a:rPr>
              <a:t>Impacto: </a:t>
            </a:r>
            <a:r>
              <a:rPr sz="950">
                <a:solidFill>
                  <a:srgbClr val="FFFFFF"/>
                </a:solidFill>
                <a:latin typeface="Calibri"/>
              </a:rPr>
              <a:t>Com apenas 1% de deságio adicional capturado em contratações estratégicas, o projeto se paga centenas de vezes.</a:t>
            </a:r>
          </a:p>
        </p:txBody>
      </p:sp>
      <p:pic>
        <p:nvPicPr>
          <p:cNvPr id="10" name="Picture 9" descr="grafico_desagio_reg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54480"/>
            <a:ext cx="5303520" cy="3392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CATEGORIA: GOVERNANÇA E GESTÃO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Alinhamento Estratégico: Rumo ao Prêmio CNMP 2026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5 PILARES METODOLÓGICOS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Aderência ao Regulamento do Prêmio CNMP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1. Resolutividade (100%): </a:t>
            </a:r>
            <a:r>
              <a:rPr sz="1000">
                <a:solidFill>
                  <a:srgbClr val="FFFFFF"/>
                </a:solidFill>
                <a:latin typeface="Calibri"/>
              </a:rPr>
              <a:t>Soluciona gargalos crônicos na instrução e na estimativa precisa de preços de referência.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2. Inovação (100%): </a:t>
            </a:r>
            <a:r>
              <a:rPr sz="1000">
                <a:solidFill>
                  <a:srgbClr val="FFFFFF"/>
                </a:solidFill>
                <a:latin typeface="Calibri"/>
              </a:rPr>
              <a:t>Aplicação pioneira de Inteligência Artificial e RAG sobre dados abertos de compras públicas no Brasil.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3. Proatividade (95%): </a:t>
            </a:r>
            <a:r>
              <a:rPr sz="1000">
                <a:solidFill>
                  <a:srgbClr val="FFFFFF"/>
                </a:solidFill>
                <a:latin typeface="Calibri"/>
              </a:rPr>
              <a:t>Atua preventivamente na 1ª Linha de Defesa antes da abertura do certame, evitando cautelares do TCE.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4. Cooperação (95%): </a:t>
            </a:r>
            <a:r>
              <a:rPr sz="1000">
                <a:solidFill>
                  <a:srgbClr val="FFFFFF"/>
                </a:solidFill>
                <a:latin typeface="Calibri"/>
              </a:rPr>
              <a:t>Integração e intercâmbio de dados entre MPs, Tribunais de Justiça e Tribunais de Contas do Nordeste.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5. Transparência (100%): </a:t>
            </a:r>
            <a:r>
              <a:rPr sz="1000">
                <a:solidFill>
                  <a:srgbClr val="FFFFFF"/>
                </a:solidFill>
                <a:latin typeface="Calibri"/>
              </a:rPr>
              <a:t>Auditabilidade total e acesso facilitado aos dados de contratações para os órgãos de controle e a sociedade.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D4AF37"/>
                </a:solidFill>
                <a:latin typeface="Calibri"/>
              </a:rPr>
              <a:t>Manual MPPI: </a:t>
            </a:r>
            <a:r>
              <a:rPr sz="1000">
                <a:solidFill>
                  <a:srgbClr val="FFFFFF"/>
                </a:solidFill>
                <a:latin typeface="Calibri"/>
              </a:rPr>
              <a:t>Estruturado rigorosamente segundo os Atos PGJ 1.025/2020 e 1.254/2022 sob supervisão da APG.</a:t>
            </a:r>
          </a:p>
        </p:txBody>
      </p:sp>
      <p:pic>
        <p:nvPicPr>
          <p:cNvPr id="7" name="Picture 6" descr="grafico_radar_cn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120640" cy="48113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CONFORMIDADE INTEGRAL COM A LEI 14.133/21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Governança e Blindagem: O Modelo das 3 Linhas de Defesa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A602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CLC E COMISSÕES DE CONTRATAÇÃO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1ª LINHA: GESTÃO E OPERAÇÃO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Simulador de Preços: </a:t>
            </a:r>
            <a:r>
              <a:rPr sz="1050">
                <a:solidFill>
                  <a:srgbClr val="FFFFFF"/>
                </a:solidFill>
                <a:latin typeface="Calibri"/>
              </a:rPr>
              <a:t>Definição de valores de referência aderentes à realidade regional.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Minutas Parametrizadas: </a:t>
            </a:r>
            <a:r>
              <a:rPr sz="1050">
                <a:solidFill>
                  <a:srgbClr val="FFFFFF"/>
                </a:solidFill>
                <a:latin typeface="Calibri"/>
              </a:rPr>
              <a:t>Garantia de que os editais nasçam sem vícios materiais.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Master Checklist (15 itens): </a:t>
            </a:r>
            <a:r>
              <a:rPr sz="1050">
                <a:solidFill>
                  <a:srgbClr val="FFFFFF"/>
                </a:solidFill>
                <a:latin typeface="Calibri"/>
              </a:rPr>
              <a:t>Conferência prévia de 100% das exigências legais antes do envio.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APG E CONTROLE INTERNO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2ª LINHA: GESTÃO DE RISCOS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Matrizes de Riscos Automatizadas: </a:t>
            </a:r>
            <a:r>
              <a:rPr sz="1050">
                <a:solidFill>
                  <a:srgbClr val="FFFFFF"/>
                </a:solidFill>
                <a:latin typeface="Calibri"/>
              </a:rPr>
              <a:t>Identificação preventiva de eventos críticos em cada contratação.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Monitoramento de Metas: </a:t>
            </a:r>
            <a:r>
              <a:rPr sz="1050">
                <a:solidFill>
                  <a:srgbClr val="FFFFFF"/>
                </a:solidFill>
                <a:latin typeface="Calibri"/>
              </a:rPr>
              <a:t>Acompanhamento da economicidade e tempo médio de tramitação.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Aderência Normativa: </a:t>
            </a:r>
            <a:r>
              <a:rPr sz="1050">
                <a:solidFill>
                  <a:srgbClr val="FFFFFF"/>
                </a:solidFill>
                <a:latin typeface="Calibri"/>
              </a:rPr>
              <a:t>Alinhamento com o Plano de Contratações Anual (PCA) do MPPI.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ASSESSORIA JURÍDICA E AUDITORIA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3ª LINHA: AVALIAÇÃO INDEPENDENTE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Processos Pré-Saneados: </a:t>
            </a:r>
            <a:r>
              <a:rPr sz="1050">
                <a:solidFill>
                  <a:srgbClr val="FFFFFF"/>
                </a:solidFill>
                <a:latin typeface="Calibri"/>
              </a:rPr>
              <a:t>A Assessoria Jurídica recebe processos instruídos e validados matematicamente.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Fim das Devoluções: </a:t>
            </a:r>
            <a:r>
              <a:rPr sz="1050">
                <a:solidFill>
                  <a:srgbClr val="FFFFFF"/>
                </a:solidFill>
                <a:latin typeface="Calibri"/>
              </a:rPr>
              <a:t>Eliminação de diligências desnecessárias por falta de documentos formais.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Segurança Decisória: </a:t>
            </a:r>
            <a:r>
              <a:rPr sz="1050">
                <a:solidFill>
                  <a:srgbClr val="FFFFFF"/>
                </a:solidFill>
                <a:latin typeface="Calibri"/>
              </a:rPr>
              <a:t>O Procurador-Geral de Justiça homologa contratações 100% blindadas.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CRONOGRAMA DE IMPLANTAÇÃO E GOVERNANÇA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Roteiro de Formalização: Próximos Passos no SEI / MPPI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2514600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CLC / INÍCIO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Passo 01: Autuação no SEI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Abertura de processo administrativo sob o tipo 'Gestão Estratégica: Projetos Institucionais' com o Despacho Inicial da CLC.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514600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METODOLOGIA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Passo 02: Validação na APG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Encaminhamento à Assessoria de Planejamento e Gestão para registro formal do TAP e alinhamento ao Ato PGJ nº 1.025/2020.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514600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INSTITUCIONALIZAÇÃO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Passo 03: Portaria da PGJ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Publicação de ato oficial da Procuradoria-Geral instituindo o projeto e designando a comissão técnica gestora.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554480"/>
            <a:ext cx="2514600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RECONHECIMENTO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Passo 04: Inscrição no CNMP</a:t>
            </a:r>
          </a:p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Submissão do dossiê ao Banco Nacional de Projetos do CNMP para concorrer na premiação nacional de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728655" cy="1691640"/>
          </a:xfrm>
          <a:prstGeom prst="roundRect">
            <a:avLst/>
          </a:prstGeom>
          <a:solidFill>
            <a:srgbClr val="14201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ESTADO DE PRONTIDÃO: 100% DOS DOCUMENTOS JÁ REDIGIDOS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• Minuta do Despacho Inicial da CLC: Pronta para autuação imediata no SEI.</a:t>
            </a:r>
            <a:br/>
            <a:r>
              <a:t>• Termo de Abertura de Projeto (TAP): Preenchido em todos os 10 campos obrigatórios do Manual da APG.</a:t>
            </a:r>
            <a:br/>
            <a:r>
              <a:t>• Código do Portal Web: Operacional e hospedado com os 6 módulos integrados prontos para demonstração.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60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9611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Calibri"/>
              </a:defRPr>
            </a:pPr>
            <a:r>
              <a:t>ENCAMINHAMENTO E DECISÃO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Conclusão Executiva: Deliberações Solicitadas à PGJ</a:t>
            </a:r>
          </a:p>
        </p:txBody>
      </p:sp>
      <p:pic>
        <p:nvPicPr>
          <p:cNvPr id="5" name="Picture 4" descr="logo_mp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20040"/>
            <a:ext cx="1600200" cy="1065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5212080" cy="393192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BENEFÍCIOS ESTRATÉGICOS CONSOLIDADOS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O Que o MPPI Conquista com o Projeto ANNONA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1. Liderança Regional: </a:t>
            </a:r>
            <a:r>
              <a:rPr sz="1050">
                <a:solidFill>
                  <a:srgbClr val="FFFFFF"/>
                </a:solidFill>
                <a:latin typeface="Calibri"/>
              </a:rPr>
              <a:t>O MPPI se torna referência entre os órgãos públicos no uso inteligente de dados de contratações.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2. Proteção Jurídica Total: </a:t>
            </a:r>
            <a:r>
              <a:rPr sz="1050">
                <a:solidFill>
                  <a:srgbClr val="FFFFFF"/>
                </a:solidFill>
                <a:latin typeface="Calibri"/>
              </a:rPr>
              <a:t>Blindagem técnica da Administração Superior contra apontamentos do TCE-PI e controle externo.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3. Economicidade Real: </a:t>
            </a:r>
            <a:r>
              <a:rPr sz="1050">
                <a:solidFill>
                  <a:srgbClr val="FFFFFF"/>
                </a:solidFill>
                <a:latin typeface="Calibri"/>
              </a:rPr>
              <a:t>Aumento comprovado do deságio nas compras e maximização de cada centavo do orçamento.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4. Reconhecimento Nacional: </a:t>
            </a:r>
            <a:r>
              <a:rPr sz="1050">
                <a:solidFill>
                  <a:srgbClr val="FFFFFF"/>
                </a:solidFill>
                <a:latin typeface="Calibri"/>
              </a:rPr>
              <a:t>Candidatura sólida e com altíssima probabilidade de premiação no Prêmio CNMP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3931920"/>
          </a:xfrm>
          <a:prstGeom prst="roundRect">
            <a:avLst/>
          </a:prstGeom>
          <a:solidFill>
            <a:srgbClr val="1A2434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82880" bIns="182880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Calibri"/>
              </a:defRPr>
            </a:pPr>
            <a:r>
              <a:t>DELIBERAÇÕES DA ADMINISTRAÇÃO</a:t>
            </a:r>
          </a:p>
          <a:p>
            <a:pPr>
              <a:spcAft>
                <a:spcPts val="600"/>
              </a:spcAft>
              <a:defRPr sz="1350" b="1">
                <a:solidFill>
                  <a:srgbClr val="FFFFFF"/>
                </a:solidFill>
                <a:latin typeface="Calibri"/>
              </a:defRPr>
            </a:pPr>
            <a:r>
              <a:t>Proposições Práticas Submetidas à Decisão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1. Autorização para Autuação: </a:t>
            </a:r>
            <a:r>
              <a:rPr sz="1050">
                <a:solidFill>
                  <a:srgbClr val="FFFFFF"/>
                </a:solidFill>
                <a:latin typeface="Calibri"/>
              </a:rPr>
              <a:t>Aprovação do início formal do processo administrativo no SEI/MPPI sob a responsabilidade da CLC.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2. Acolhimento pela APG: </a:t>
            </a:r>
            <a:r>
              <a:rPr sz="1050">
                <a:solidFill>
                  <a:srgbClr val="FFFFFF"/>
                </a:solidFill>
                <a:latin typeface="Calibri"/>
              </a:rPr>
              <a:t>Envio do TAP à Assessoria de Planejamento e Gestão para inclusão na carteira de projetos prioritários.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3. Publicação de Portaria PGJ: </a:t>
            </a:r>
            <a:r>
              <a:rPr sz="1050">
                <a:solidFill>
                  <a:srgbClr val="FFFFFF"/>
                </a:solidFill>
                <a:latin typeface="Calibri"/>
              </a:rPr>
              <a:t>Chancela oficial do Projeto ANNONA no Diário Oficial Eletrônico do MPPI.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D4AF37"/>
                </a:solidFill>
                <a:latin typeface="Calibri"/>
              </a:rPr>
              <a:t>4. Inscrição no Prêmio CNMP: </a:t>
            </a:r>
            <a:r>
              <a:rPr sz="1050">
                <a:solidFill>
                  <a:srgbClr val="FFFFFF"/>
                </a:solidFill>
                <a:latin typeface="Calibri"/>
              </a:rPr>
              <a:t>Autorização para preparação da submissão na Categoria Governança e Gestão em 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E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200" b="1">
                <a:solidFill>
                  <a:srgbClr val="D4AF37"/>
                </a:solidFill>
                <a:latin typeface="Calibri"/>
              </a:defRPr>
            </a:pPr>
            <a:r>
              <a:t>"PROJETO ANNONA: Governança, Preço Justo e Segurança Jurídica para o Ministério Público do Estado do Piauí."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