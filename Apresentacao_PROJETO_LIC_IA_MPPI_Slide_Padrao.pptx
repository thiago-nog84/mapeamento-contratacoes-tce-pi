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134" autoAdjust="0"/>
  </p:normalViewPr>
  <p:slideViewPr>
    <p:cSldViewPr snapToGrid="0" snapToObjects="1">
      <p:cViewPr varScale="1">
        <p:scale>
          <a:sx n="50" d="100"/>
          <a:sy n="50" d="100"/>
        </p:scale>
        <p:origin x="126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215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1 - Abertura):</a:t>
            </a:r>
          </a:p>
          <a:p>
            <a:r>
              <a:t>Senhor Procurador-Geral de Justiça, Membros da Administração Superior e da APG.</a:t>
            </a:r>
          </a:p>
          <a:p>
            <a:r>
              <a:t>Apresentamos o PROJETO Lic.IA — concebido na Coordenadoria de Licitações e Contratos (CLC) para alçar as contratações públicas do MPPI a um patamar inédito de maturidade, segurança jurídica e eficiência orçamentária.</a:t>
            </a:r>
          </a:p>
          <a:p>
            <a:r>
              <a:t>Com base em mais de R$ 341 milhões analisados em 12 instituições da região, este projeto traz inovação tecnológica viva e atende integralmente aos requisitos de governança do Ato PGJ nº 1.025/2020 e aos critérios do Prêmio CNMP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2 - Lic.IA):</a:t>
            </a:r>
          </a:p>
          <a:p>
            <a:r>
              <a:t>Senhor Procurador-Geral, por que batizamos este projeto de Lic.IA?</a:t>
            </a:r>
          </a:p>
          <a:p>
            <a:r>
              <a:t>O Sistema de Justiça no Piauí já se acostumou com inteligências artificiais com identidade humana e carismática: o TJ-PI tem a Júlia e a Sofia, e o MPPI tem a Omnis apoiando a atividade-fim dos nossos Promotores.</a:t>
            </a:r>
          </a:p>
          <a:p>
            <a:r>
              <a:t>Faltava uma IA para a atividade-meio e governança: a Lic.IA — Licitações + Inteligência Artificial.</a:t>
            </a:r>
          </a:p>
          <a:p>
            <a:r>
              <a:t>Ela moderniza e automatiza a histórica missão republicana do preço justo, trazendo empatia, fácil comunicação e posicionamento de vanguarda perante o CNMP.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NOTAS DO ORADOR (Slide 3 - </a:t>
            </a:r>
            <a:r>
              <a:rPr dirty="0" err="1"/>
              <a:t>Diagnóstico</a:t>
            </a:r>
            <a:r>
              <a:rPr dirty="0"/>
              <a:t>):</a:t>
            </a:r>
          </a:p>
          <a:p>
            <a:r>
              <a:rPr dirty="0"/>
              <a:t>O </a:t>
            </a:r>
            <a:r>
              <a:rPr dirty="0" err="1"/>
              <a:t>cenário</a:t>
            </a:r>
            <a:r>
              <a:rPr dirty="0"/>
              <a:t> que </a:t>
            </a:r>
            <a:r>
              <a:rPr dirty="0" err="1"/>
              <a:t>enfrentamos</a:t>
            </a:r>
            <a:r>
              <a:rPr dirty="0"/>
              <a:t> </a:t>
            </a:r>
            <a:r>
              <a:rPr dirty="0" err="1"/>
              <a:t>hoje</a:t>
            </a:r>
            <a:r>
              <a:rPr dirty="0"/>
              <a:t>: </a:t>
            </a:r>
            <a:r>
              <a:rPr dirty="0" err="1"/>
              <a:t>assimetria</a:t>
            </a:r>
            <a:r>
              <a:rPr dirty="0"/>
              <a:t> </a:t>
            </a:r>
            <a:r>
              <a:rPr dirty="0" err="1"/>
              <a:t>severa</a:t>
            </a:r>
            <a:r>
              <a:rPr dirty="0"/>
              <a:t> de </a:t>
            </a:r>
            <a:r>
              <a:rPr dirty="0" err="1"/>
              <a:t>informações</a:t>
            </a:r>
            <a:r>
              <a:rPr dirty="0"/>
              <a:t> de </a:t>
            </a:r>
            <a:r>
              <a:rPr dirty="0" err="1"/>
              <a:t>mercado</a:t>
            </a:r>
            <a:r>
              <a:rPr dirty="0"/>
              <a:t>, um novo </a:t>
            </a:r>
            <a:r>
              <a:rPr dirty="0" err="1"/>
              <a:t>posicionamento</a:t>
            </a:r>
            <a:r>
              <a:rPr dirty="0"/>
              <a:t>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rigoroso</a:t>
            </a:r>
            <a:r>
              <a:rPr dirty="0"/>
              <a:t> do Tribunal de </a:t>
            </a:r>
            <a:r>
              <a:rPr dirty="0" err="1"/>
              <a:t>Contas</a:t>
            </a:r>
            <a:r>
              <a:rPr dirty="0"/>
              <a:t> no </a:t>
            </a:r>
            <a:r>
              <a:rPr dirty="0" err="1"/>
              <a:t>Acórdão</a:t>
            </a:r>
            <a:r>
              <a:rPr dirty="0"/>
              <a:t> 300/2025 para </a:t>
            </a:r>
            <a:r>
              <a:rPr dirty="0" err="1"/>
              <a:t>caronas</a:t>
            </a:r>
            <a:r>
              <a:rPr dirty="0"/>
              <a:t>, e </a:t>
            </a:r>
            <a:r>
              <a:rPr dirty="0" err="1"/>
              <a:t>sobrecarga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equipes</a:t>
            </a:r>
            <a:r>
              <a:rPr dirty="0"/>
              <a:t> de </a:t>
            </a:r>
            <a:r>
              <a:rPr dirty="0" err="1"/>
              <a:t>instrução</a:t>
            </a:r>
            <a:r>
              <a:rPr dirty="0"/>
              <a:t> e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jurídica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4 - Inovação e Gráfico Antes/Depois):</a:t>
            </a:r>
          </a:p>
          <a:p>
            <a:r>
              <a:t>O Projeto Lic.IA não concorre com as MJRs da PGJ; ele é a tecnologia que torna as MJRs automatizadas e aplicáveis em segundos.</a:t>
            </a:r>
          </a:p>
          <a:p>
            <a:r>
              <a:t>Vejam no gráfico o impacto concreto: o tempo de instrução despenca de 35 para 10 dias, as devoluções para diligência caem de 45% para 12%, e as adesões a atas passam a ter 100% de blindagem jurídica.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5 - Arquitetura dos 3 Anéis Concéntricos):</a:t>
            </a:r>
          </a:p>
          <a:p>
            <a:r>
              <a:t>Senhor Procurador-Geral, estruturamos a governança de dados do Lic.IA em 3 Anéis Concéntricos de Inteligência:</a:t>
            </a:r>
          </a:p>
          <a:p>
            <a:r>
              <a:t>1º Anel (Local): Mantemos obrigatoriamente o TJ-PI e o TCE-PI porque representam o nosso mercado geográfico em Teresina. Quando o TCE-PI nos auditar sob o rigor do Acórdão 300/2025 para caronas, nossa defesa estará lastreada nos preços que o próprio TCE e o Tribunal praticam.</a:t>
            </a:r>
          </a:p>
          <a:p>
            <a:r>
              <a:t>2º Anel (Regional): Já mapeamos 100% dos MPs do Nordeste, gerando uma régua científica de 20,18% de deságio médio para negociar em nossos pregões.</a:t>
            </a:r>
          </a:p>
          <a:p>
            <a:r>
              <a:t>3º Anel (Nacional): Inserimos no TAP a meta de expansão para os 27 MPs do Brasil via API do PNCP, alçando o MPPI à condição de pioneiro nacional perante o CNMP.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NOTAS DO ORADOR (Slide 6 - </a:t>
            </a:r>
            <a:r>
              <a:rPr dirty="0" err="1"/>
              <a:t>Economicidade</a:t>
            </a:r>
            <a:r>
              <a:rPr dirty="0"/>
              <a:t> e </a:t>
            </a:r>
            <a:r>
              <a:rPr dirty="0" err="1"/>
              <a:t>Curva</a:t>
            </a:r>
            <a:r>
              <a:rPr dirty="0"/>
              <a:t> de </a:t>
            </a:r>
            <a:r>
              <a:rPr dirty="0" err="1"/>
              <a:t>Deságio</a:t>
            </a:r>
            <a:r>
              <a:rPr dirty="0"/>
              <a:t>):</a:t>
            </a:r>
          </a:p>
          <a:p>
            <a:r>
              <a:rPr dirty="0" err="1"/>
              <a:t>Observem</a:t>
            </a:r>
            <a:r>
              <a:rPr dirty="0"/>
              <a:t> o </a:t>
            </a:r>
            <a:r>
              <a:rPr dirty="0" err="1"/>
              <a:t>gráfico</a:t>
            </a:r>
            <a:r>
              <a:rPr dirty="0"/>
              <a:t> à </a:t>
            </a:r>
            <a:r>
              <a:rPr dirty="0" err="1"/>
              <a:t>direita</a:t>
            </a:r>
            <a:r>
              <a:rPr dirty="0"/>
              <a:t> com a </a:t>
            </a:r>
            <a:r>
              <a:rPr dirty="0" err="1"/>
              <a:t>curva</a:t>
            </a:r>
            <a:r>
              <a:rPr dirty="0"/>
              <a:t> de </a:t>
            </a:r>
            <a:r>
              <a:rPr dirty="0" err="1"/>
              <a:t>deságio</a:t>
            </a:r>
            <a:r>
              <a:rPr dirty="0"/>
              <a:t> regional: a </a:t>
            </a:r>
            <a:r>
              <a:rPr dirty="0" err="1"/>
              <a:t>média</a:t>
            </a:r>
            <a:r>
              <a:rPr dirty="0"/>
              <a:t> no </a:t>
            </a:r>
            <a:r>
              <a:rPr dirty="0" err="1"/>
              <a:t>Nordeste</a:t>
            </a:r>
            <a:r>
              <a:rPr dirty="0"/>
              <a:t> é de 20,18% de </a:t>
            </a:r>
            <a:r>
              <a:rPr dirty="0" err="1"/>
              <a:t>deságio</a:t>
            </a:r>
            <a:r>
              <a:rPr dirty="0"/>
              <a:t>.</a:t>
            </a:r>
          </a:p>
          <a:p>
            <a:r>
              <a:rPr dirty="0"/>
              <a:t>O MPPI tem </a:t>
            </a:r>
            <a:r>
              <a:rPr dirty="0" err="1"/>
              <a:t>como</a:t>
            </a:r>
            <a:r>
              <a:rPr dirty="0"/>
              <a:t> meta </a:t>
            </a:r>
            <a:r>
              <a:rPr dirty="0" err="1"/>
              <a:t>empírica</a:t>
            </a:r>
            <a:r>
              <a:rPr dirty="0"/>
              <a:t> se </a:t>
            </a:r>
            <a:r>
              <a:rPr dirty="0" err="1"/>
              <a:t>alinhar</a:t>
            </a:r>
            <a:r>
              <a:rPr dirty="0"/>
              <a:t> a </a:t>
            </a:r>
            <a:r>
              <a:rPr dirty="0" err="1"/>
              <a:t>esse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 de </a:t>
            </a:r>
            <a:r>
              <a:rPr dirty="0" err="1"/>
              <a:t>excelência</a:t>
            </a:r>
            <a:r>
              <a:rPr dirty="0"/>
              <a:t>, </a:t>
            </a:r>
            <a:r>
              <a:rPr dirty="0" err="1"/>
              <a:t>evitando</a:t>
            </a:r>
            <a:r>
              <a:rPr dirty="0"/>
              <a:t> </a:t>
            </a:r>
            <a:r>
              <a:rPr dirty="0" err="1"/>
              <a:t>comprar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preço</a:t>
            </a:r>
            <a:r>
              <a:rPr dirty="0"/>
              <a:t> de </a:t>
            </a:r>
            <a:r>
              <a:rPr dirty="0" err="1"/>
              <a:t>catálogo</a:t>
            </a:r>
            <a:r>
              <a:rPr dirty="0"/>
              <a:t>.</a:t>
            </a:r>
          </a:p>
          <a:p>
            <a:r>
              <a:rPr dirty="0" err="1"/>
              <a:t>Desenvolvido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 para a </a:t>
            </a:r>
            <a:r>
              <a:rPr dirty="0" err="1"/>
              <a:t>instituição</a:t>
            </a:r>
            <a:r>
              <a:rPr dirty="0"/>
              <a:t>, o </a:t>
            </a: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oferece</a:t>
            </a:r>
            <a:r>
              <a:rPr dirty="0"/>
              <a:t> um ROI </a:t>
            </a:r>
            <a:r>
              <a:rPr dirty="0" err="1"/>
              <a:t>formidável</a:t>
            </a:r>
            <a:r>
              <a:rPr dirty="0"/>
              <a:t>: </a:t>
            </a:r>
            <a:r>
              <a:rPr dirty="0" err="1"/>
              <a:t>apenas</a:t>
            </a:r>
            <a:r>
              <a:rPr dirty="0"/>
              <a:t> 1% de </a:t>
            </a:r>
            <a:r>
              <a:rPr dirty="0" err="1"/>
              <a:t>economia</a:t>
            </a:r>
            <a:r>
              <a:rPr dirty="0"/>
              <a:t> a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nossos</a:t>
            </a:r>
            <a:r>
              <a:rPr dirty="0"/>
              <a:t>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contratos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centenas</a:t>
            </a:r>
            <a:r>
              <a:rPr dirty="0"/>
              <a:t> de </a:t>
            </a:r>
            <a:r>
              <a:rPr dirty="0" err="1"/>
              <a:t>milhares</a:t>
            </a:r>
            <a:r>
              <a:rPr dirty="0"/>
              <a:t> de </a:t>
            </a:r>
            <a:r>
              <a:rPr dirty="0" err="1"/>
              <a:t>reais</a:t>
            </a:r>
            <a:r>
              <a:rPr dirty="0"/>
              <a:t> </a:t>
            </a:r>
            <a:r>
              <a:rPr dirty="0" err="1"/>
              <a:t>economizados</a:t>
            </a:r>
            <a:r>
              <a:rPr dirty="0"/>
              <a:t> para </a:t>
            </a:r>
            <a:r>
              <a:rPr dirty="0" err="1"/>
              <a:t>reinvestimento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7 - Prêmio CNMP):</a:t>
            </a:r>
          </a:p>
          <a:p>
            <a:r>
              <a:t>O gráfico radar evidencia visualmente a aderência do Projeto Lic.IA aos cinco critérios eliminatórios e classificatórios do Prêmio CNMP na Categoria Governança e Gestão.</a:t>
            </a:r>
          </a:p>
          <a:p>
            <a:r>
              <a:t>O projeto cumpre com excelência cada quesito e foi desenhado nos moldes do Manual de Projetos do MPPI, posicionando nossa instituição para disputar o topo do pódio nacional.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8 - Três Linhas de Defesa):</a:t>
            </a:r>
          </a:p>
          <a:p>
            <a:r>
              <a:t>O Projeto Lic.IA fortalece cada uma das três linhas de defesa do MPPI:</a:t>
            </a:r>
          </a:p>
          <a:p>
            <a:r>
              <a:t>Dá poder operacional à CLC, fornece inteligência de riscos à APG e ao Controle Interno, e entrega processos limpos e seguros para a Assessoria Jurídica e para a decisão do Procurador-Geral de Justiça.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(Slide 9 - Roteiro SEI):</a:t>
            </a:r>
          </a:p>
          <a:p>
            <a:r>
              <a:t>Todos os documentos para autuação imediata no SEI estão redigidos. A proposta exige esforço de tramitação reduzido e conta com total conformidade com o Manual de Projetos do MPPI.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8961120" cy="3037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tlCol="0" anchor="ctr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A60225"/>
                </a:solidFill>
                <a:latin typeface="Calibri"/>
              </a:rPr>
              <a:t>CLC  |  </a:t>
            </a:r>
            <a:r>
              <a:rPr sz="1100" b="1">
                <a:solidFill>
                  <a:srgbClr val="5A5A5A"/>
                </a:solidFill>
                <a:latin typeface="Calibri"/>
              </a:rPr>
              <a:t>COORDENADORIA DE LICITAÇÕES E CONTRATOS DO MPPI</a:t>
            </a:r>
          </a:p>
          <a:p>
            <a:pPr>
              <a:spcAft>
                <a:spcPts val="400"/>
              </a:spcAft>
              <a:defRPr sz="4400" b="1">
                <a:solidFill>
                  <a:srgbClr val="A60225"/>
                </a:solidFill>
                <a:latin typeface="Calibri"/>
              </a:defRPr>
            </a:pPr>
            <a:r>
              <a:t>PROJETO Lic.IA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Observatório de Governança, Preços e Inteligência em Contratações Públicas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Transformando dados de compras públicas em blindagem jurídica, economicidade comprovada e candidatura ao Prêmio CNMP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26280"/>
            <a:ext cx="2926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1900" b="1">
                <a:solidFill>
                  <a:srgbClr val="A60225"/>
                </a:solidFill>
                <a:latin typeface="Calibri"/>
              </a:defRPr>
            </a:pPr>
            <a:r>
              <a:rPr sz="2400" dirty="0"/>
              <a:t>R$ 341.6M+</a:t>
            </a:r>
          </a:p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rPr sz="1050" dirty="0"/>
              <a:t>Volume Regional </a:t>
            </a:r>
            <a:r>
              <a:rPr sz="1050" dirty="0" err="1"/>
              <a:t>Analisado</a:t>
            </a:r>
            <a:endParaRPr sz="1050" dirty="0"/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rPr sz="1000" dirty="0"/>
              <a:t>12 </a:t>
            </a:r>
            <a:r>
              <a:rPr sz="1000" dirty="0" err="1"/>
              <a:t>Órgãos</a:t>
            </a:r>
            <a:r>
              <a:rPr sz="1000" dirty="0"/>
              <a:t> do </a:t>
            </a:r>
            <a:r>
              <a:rPr sz="1000" dirty="0" err="1"/>
              <a:t>Nordeste</a:t>
            </a: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3840480" y="4526280"/>
            <a:ext cx="2926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1900" b="1">
                <a:solidFill>
                  <a:srgbClr val="A60225"/>
                </a:solidFill>
                <a:latin typeface="Calibri"/>
              </a:defRPr>
            </a:pPr>
            <a:r>
              <a:rPr sz="2400"/>
              <a:t>20,18%</a:t>
            </a:r>
          </a:p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rPr sz="1050"/>
              <a:t>Deságio Médio em Licitações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rPr sz="1000"/>
              <a:t>R$ 68,8M em Economia Mapeada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4526280"/>
            <a:ext cx="2926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1900" b="1">
                <a:solidFill>
                  <a:srgbClr val="A60225"/>
                </a:solidFill>
                <a:latin typeface="Calibri"/>
              </a:defRPr>
            </a:pPr>
            <a:r>
              <a:rPr sz="2400"/>
              <a:t>10.504</a:t>
            </a:r>
          </a:p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rPr sz="1050"/>
              <a:t>Contratos e Editais Minerados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rPr sz="1000"/>
              <a:t>Motor de IA / RAG em Tempo Real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CONCEITO E IDENTIDADE INSTITUCIONAL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Por Que 'Lic.IA'? A Nova Inteligência Artificial de Licitações do MPPI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t>ECOSSISTEMA DE IA DO SISTEMA DE JUSTIÇA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A Gênese da Marca: Licitações + Inteligência Artificial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Trocadilho Fonético: </a:t>
            </a:r>
            <a:r>
              <a:rPr sz="1050">
                <a:solidFill>
                  <a:srgbClr val="1E293B"/>
                </a:solidFill>
                <a:latin typeface="Calibri"/>
              </a:rPr>
              <a:t>Lic.IA (pronuncia-se 'Lícia') — nome clássico que evoca lucidez, transparência e clareza na gestão do gasto público.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Harmonia Institucional: </a:t>
            </a:r>
            <a:r>
              <a:rPr sz="1050">
                <a:solidFill>
                  <a:srgbClr val="1E293B"/>
                </a:solidFill>
                <a:latin typeface="Calibri"/>
              </a:rPr>
              <a:t>No TJ-PI existem JÚLIA e SOFIA; no MPPI já temos a OMNIS na atividade-fim. A Lic.IA nasce como a IA oficial da atividade-meio e governança de compras.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Comunicação Imediata: </a:t>
            </a:r>
            <a:r>
              <a:rPr sz="1050">
                <a:solidFill>
                  <a:srgbClr val="1E293B"/>
                </a:solidFill>
                <a:latin typeface="Calibri"/>
              </a:rPr>
              <a:t>Elimina barreiras de compreensão. Qualquer servidor, pregoeiro ou cidadão entende instantaneamente a função do projeto.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Pioneirismo Nacional: </a:t>
            </a:r>
            <a:r>
              <a:rPr sz="1050">
                <a:solidFill>
                  <a:srgbClr val="1E293B"/>
                </a:solidFill>
                <a:latin typeface="Calibri"/>
              </a:rPr>
              <a:t>Marca inédita entre todos os tribunais e Ministérios Públicos do país, assegurando exclusividade e destaque no CNMP.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CBD5E1"/>
                </a:solidFill>
                <a:latin typeface="Calibri"/>
              </a:defRPr>
            </a:pPr>
            <a:r>
              <a:t>ERUDIÇÃO HISTÓRICA E PREÇO JUSTO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A Tradição da Cura Annonae no Século XXI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Herança Clássica: </a:t>
            </a:r>
            <a:r>
              <a:rPr sz="1050">
                <a:solidFill>
                  <a:srgbClr val="1E293B"/>
                </a:solidFill>
                <a:latin typeface="Calibri"/>
              </a:rPr>
              <a:t>A Lic.IA materializa digitalmente a histórica magistratura romana da Cura Annonae (7 d.C.), criada para planejar compras estatais e coibir o sobrepreço.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Governança Proativa: </a:t>
            </a:r>
            <a:r>
              <a:rPr sz="1050">
                <a:solidFill>
                  <a:srgbClr val="1E293B"/>
                </a:solidFill>
                <a:latin typeface="Calibri"/>
              </a:rPr>
              <a:t>Não atua como controle burocrático punitivo, mas como copiloto preditivo na primeira linha de defesa da instituição.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Proteção aos Gestores: </a:t>
            </a:r>
            <a:r>
              <a:rPr sz="1050">
                <a:solidFill>
                  <a:srgbClr val="1E293B"/>
                </a:solidFill>
                <a:latin typeface="Calibri"/>
              </a:rPr>
              <a:t>Blindagem técnica irrefutável para os ordenadores de despesa contra apontamentos e cautelares do Tribunal de Contas.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Ciência de Dados Viva: </a:t>
            </a:r>
            <a:r>
              <a:rPr sz="1050">
                <a:solidFill>
                  <a:srgbClr val="1E293B"/>
                </a:solidFill>
                <a:latin typeface="Calibri"/>
              </a:rPr>
              <a:t>Motor RAG semântico, curvas empíricas de deságio e aprendizado contínuo integrados à rotina do SEI/MPPI.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32120"/>
            <a:ext cx="8412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A60225"/>
                </a:solidFill>
                <a:latin typeface="Calibri"/>
              </a:defRPr>
            </a:pPr>
            <a:r>
              <a:t>"Lic.IA: Inteligência Artificial, Preço Justo e Segurança Jurídica para o Ministério Público do Estado do Piauí."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DIAGNÓSTICO E CONTEXTO DE RISCO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 Problema Real: Desafios Críticos nas Contratações Públicas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DESAFIO 01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 err="1"/>
              <a:t>Assimetria</a:t>
            </a:r>
            <a:r>
              <a:rPr sz="1400" dirty="0"/>
              <a:t> de </a:t>
            </a:r>
            <a:r>
              <a:rPr sz="1400" dirty="0" err="1"/>
              <a:t>Preços</a:t>
            </a:r>
            <a:r>
              <a:rPr sz="1400" dirty="0"/>
              <a:t> no Mercado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Cotações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Infladas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Orçamentos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prévios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baseados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cotações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diretas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histórico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homologação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costumam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inflar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valores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referência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Deságio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Desconhecido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dados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regionais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consolidados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, 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órgão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licita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saber que 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mercado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pratica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deságios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superiores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20%.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Risco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ao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Erário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Contratações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homologadas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pelo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teto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orçado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geram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desperdício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invisível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recursos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públicos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escassos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DESAFIO 02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 err="1"/>
              <a:t>Insegurança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Adesões</a:t>
            </a:r>
            <a:r>
              <a:rPr sz="1400" dirty="0"/>
              <a:t> (</a:t>
            </a:r>
            <a:r>
              <a:rPr sz="1400" dirty="0" err="1"/>
              <a:t>Caronas</a:t>
            </a:r>
            <a:r>
              <a:rPr sz="1400" dirty="0"/>
              <a:t>)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Acórdão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300/2025 TCE-PI: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O Tribunal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passou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exigir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comprovação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estrita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vantagem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local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estudo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viabilidade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real para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adesões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atas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Vedação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ao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Modelo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Genérico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mera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cópia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justificativas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alheias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enseja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nulidade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responsabilização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pessoal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do gestor.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Necessidade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Blindagem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>
                <a:solidFill>
                  <a:srgbClr val="1E293B"/>
                </a:solidFill>
                <a:latin typeface="Calibri"/>
              </a:rPr>
              <a:t>O MPPI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precisa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parâmetros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empíricos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irrefutáveis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para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fundamentar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cada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adesão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/>
              <a:t>DESAFIO 03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/>
              <a:t>Sobrecarga da Análise Jurídica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Pareceres Repetitivos: </a:t>
            </a:r>
            <a:r>
              <a:rPr sz="1400">
                <a:solidFill>
                  <a:srgbClr val="1E293B"/>
                </a:solidFill>
                <a:latin typeface="Calibri"/>
              </a:rPr>
              <a:t>Horas de trabalho técnico desperdiçadas na checagem manual de itens meramente formais de editais e termos de referência.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Retrabalho Constante: </a:t>
            </a:r>
            <a:r>
              <a:rPr sz="1400">
                <a:solidFill>
                  <a:srgbClr val="1E293B"/>
                </a:solidFill>
                <a:latin typeface="Calibri"/>
              </a:rPr>
              <a:t>Divergências de minutas entre setores causam devoluções frequentes e morosidade no calendário de compras.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Falta de RAG Ativo: </a:t>
            </a:r>
            <a:r>
              <a:rPr sz="1400">
                <a:solidFill>
                  <a:srgbClr val="1E293B"/>
                </a:solidFill>
                <a:latin typeface="Calibri"/>
              </a:rPr>
              <a:t>Dificuldade de cruzar em tempo real as minutas novas com os precedentes e orientações vigentes.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DIFERENCIAÇÃO ESTRATÉGICA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 Verdadeira Inovação: Muito Além das MJRs Tradicionais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500" dirty="0"/>
              <a:t>SALTO DE MATURIDADE GERENCIAL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500" dirty="0" err="1"/>
              <a:t>Inteligência</a:t>
            </a:r>
            <a:r>
              <a:rPr sz="1500" dirty="0"/>
              <a:t> </a:t>
            </a:r>
            <a:r>
              <a:rPr sz="1500" dirty="0" err="1"/>
              <a:t>Ativa</a:t>
            </a:r>
            <a:r>
              <a:rPr sz="1500" dirty="0"/>
              <a:t> vs. </a:t>
            </a:r>
            <a:r>
              <a:rPr sz="1500" dirty="0" err="1"/>
              <a:t>Documentos</a:t>
            </a:r>
            <a:r>
              <a:rPr sz="1500" dirty="0"/>
              <a:t> </a:t>
            </a:r>
            <a:r>
              <a:rPr sz="1500" dirty="0" err="1"/>
              <a:t>Estáticos</a:t>
            </a:r>
            <a:endParaRPr sz="1500" dirty="0"/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A60225"/>
                </a:solidFill>
                <a:latin typeface="Calibri"/>
              </a:rPr>
              <a:t>O que o MPPI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já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possui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Excelentes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Manifestações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Jurídicas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Referenciais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(MJRs 56, 66, 86, 92, 95) da PGJ,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porém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residem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repositórios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estáticos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PDF.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A60225"/>
                </a:solidFill>
                <a:latin typeface="Calibri"/>
              </a:rPr>
              <a:t>A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Inovação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do Lic.IA: </a:t>
            </a:r>
            <a:r>
              <a:rPr sz="1500" dirty="0">
                <a:solidFill>
                  <a:srgbClr val="1E293B"/>
                </a:solidFill>
                <a:latin typeface="Calibri"/>
              </a:rPr>
              <a:t>O Lic.IA é o motor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execução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ativo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que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lê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minuta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do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processo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no SEI 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audita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100% dos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requisitos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das MJRs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segundos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com IA / RAG.</a:t>
            </a:r>
          </a:p>
          <a:p>
            <a:pPr>
              <a:spcAft>
                <a:spcPts val="600"/>
              </a:spcAft>
            </a:pPr>
            <a:r>
              <a:rPr sz="1500" b="1" dirty="0" err="1">
                <a:solidFill>
                  <a:srgbClr val="A60225"/>
                </a:solidFill>
                <a:latin typeface="Calibri"/>
              </a:rPr>
              <a:t>Blindagem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Acórdão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300/2025: </a:t>
            </a:r>
            <a:r>
              <a:rPr sz="1500" dirty="0">
                <a:solidFill>
                  <a:srgbClr val="1E293B"/>
                </a:solidFill>
                <a:latin typeface="Calibri"/>
              </a:rPr>
              <a:t>Gera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automaticamente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estudo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viabilidade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local e 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justificativa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vantajosidade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exigida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pelo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TCE-PI para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adesões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atas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1" dirty="0" err="1">
                <a:solidFill>
                  <a:srgbClr val="A60225"/>
                </a:solidFill>
                <a:latin typeface="Calibri"/>
              </a:rPr>
              <a:t>Curvas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Empíricas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A60225"/>
                </a:solidFill>
                <a:latin typeface="Calibri"/>
              </a:rPr>
              <a:t>Reais</a:t>
            </a:r>
            <a:r>
              <a:rPr sz="15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Substitui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estimativas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pontuais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por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inteligência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estatística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deságio</a:t>
            </a:r>
            <a:r>
              <a:rPr sz="1500" dirty="0">
                <a:solidFill>
                  <a:srgbClr val="1E293B"/>
                </a:solidFill>
                <a:latin typeface="Calibri"/>
              </a:rPr>
              <a:t> regional com R$ 341M </a:t>
            </a:r>
            <a:r>
              <a:rPr sz="1500" dirty="0" err="1">
                <a:solidFill>
                  <a:srgbClr val="1E293B"/>
                </a:solidFill>
                <a:latin typeface="Calibri"/>
              </a:rPr>
              <a:t>analisados</a:t>
            </a:r>
            <a:r>
              <a:rPr sz="15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pic>
        <p:nvPicPr>
          <p:cNvPr id="6" name="Picture 5" descr="grafico_antes_depois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5212080" cy="33323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4937760"/>
            <a:ext cx="5212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 dirty="0"/>
              <a:t>GANHO DE PERFORMANCE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 dirty="0" err="1"/>
              <a:t>Impacto</a:t>
            </a:r>
            <a:r>
              <a:rPr sz="1600" dirty="0"/>
              <a:t> </a:t>
            </a:r>
            <a:r>
              <a:rPr sz="1600" dirty="0" err="1"/>
              <a:t>Comprovado</a:t>
            </a:r>
            <a:r>
              <a:rPr sz="1600" dirty="0"/>
              <a:t>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Eficiência</a:t>
            </a:r>
            <a:endParaRPr sz="1600" dirty="0"/>
          </a:p>
          <a:p>
            <a:pPr>
              <a:spcAft>
                <a:spcPts val="200"/>
              </a:spcAft>
            </a:pPr>
            <a:r>
              <a:rPr sz="1100" b="1" dirty="0" err="1">
                <a:solidFill>
                  <a:srgbClr val="A60225"/>
                </a:solidFill>
                <a:latin typeface="Calibri"/>
              </a:rPr>
              <a:t>Resultados</a:t>
            </a:r>
            <a:r>
              <a:rPr sz="11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Queda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de 35 para 10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dias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no tempo de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instrução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e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redução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de 45% para 12%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em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diligências</a:t>
            </a:r>
            <a:r>
              <a:rPr sz="110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E293B"/>
                </a:solidFill>
                <a:latin typeface="Calibri"/>
              </a:rPr>
              <a:t>jurídicas</a:t>
            </a:r>
            <a:r>
              <a:rPr sz="11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ARQUITETURA ESTRATÉGICA DO PROJETO Lic.IA</a:t>
            </a:r>
          </a:p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Escopo em 3 Anéis Concéntricos: Blindagem Local, Regional e Nacional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200"/>
              </a:spcAft>
              <a:defRPr sz="850" b="1">
                <a:solidFill>
                  <a:srgbClr val="A60225"/>
                </a:solidFill>
                <a:latin typeface="Calibri"/>
              </a:defRPr>
            </a:pPr>
            <a:r>
              <a:t>NÚCLEO REGULATÓRIO / MERCADO FÍSICO TERESINA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1º Anel: Blindagem Local (MPPI • TJ-PI • TCE-PI)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Mercado Comum: </a:t>
            </a:r>
            <a:r>
              <a:rPr sz="950">
                <a:solidFill>
                  <a:srgbClr val="1E293B"/>
                </a:solidFill>
                <a:latin typeface="Calibri"/>
              </a:rPr>
              <a:t>Infraestrutura, vigilância, TI e obras em Teresina envolvem exatamente os mesmos concorrentes locais.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Acórdão 300/2025 TCE-PI: </a:t>
            </a:r>
            <a:r>
              <a:rPr sz="950">
                <a:solidFill>
                  <a:srgbClr val="1E293B"/>
                </a:solidFill>
                <a:latin typeface="Calibri"/>
              </a:rPr>
              <a:t>Exige prova estrita de vantajosidade local para adesões (caronas). Comprovar preço aderente ao TJ-PI e ao próprio TCE-PI blinda o PGJ.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486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8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200"/>
              </a:spcAft>
              <a:defRPr sz="850" b="1">
                <a:solidFill>
                  <a:srgbClr val="B48A28"/>
                </a:solidFill>
                <a:latin typeface="Calibri"/>
              </a:defRPr>
            </a:pPr>
            <a:r>
              <a:t>10.504 ATOS MAPEADOS • R$ 341 MILHÕES ANALISADOS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2º Anel: Benchmarking Regional (9 MPs Nordeste + MPDFT)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Curva de Deságio Real: </a:t>
            </a:r>
            <a:r>
              <a:rPr sz="950">
                <a:solidFill>
                  <a:srgbClr val="1E293B"/>
                </a:solidFill>
                <a:latin typeface="Calibri"/>
              </a:rPr>
              <a:t>Estabelece a régua empírica de 20,18% de deságio médio para pautar negociações em pregões do MPPI.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Identidade Institucional: </a:t>
            </a:r>
            <a:r>
              <a:rPr sz="950">
                <a:solidFill>
                  <a:srgbClr val="1E293B"/>
                </a:solidFill>
                <a:latin typeface="Calibri"/>
              </a:rPr>
              <a:t>Necessidades de compras 100% idênticas (Promotorias, GAECOs, CAOs e perícias técnicas).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54864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200"/>
              </a:spcAft>
              <a:defRPr sz="850" b="1">
                <a:solidFill>
                  <a:srgbClr val="0F172A"/>
                </a:solidFill>
                <a:latin typeface="Calibri"/>
              </a:defRPr>
            </a:pPr>
            <a:r>
              <a:t>ESCALABILIDADE PNCP • META DO TAP / PRÊMIO CNMP 2026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3º Anel: Expansão Nacional (27 MPs do Brasil)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Escala Automática: </a:t>
            </a:r>
            <a:r>
              <a:rPr sz="950">
                <a:solidFill>
                  <a:srgbClr val="1E293B"/>
                </a:solidFill>
                <a:latin typeface="Calibri"/>
              </a:rPr>
              <a:t>Ingestão padronizada via API do Portal Nacional de Contratações Públicas (PNCP - Lei 14.133/21).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A60225"/>
                </a:solidFill>
                <a:latin typeface="Calibri"/>
              </a:rPr>
              <a:t>Vocação Nacional: </a:t>
            </a:r>
            <a:r>
              <a:rPr sz="950">
                <a:solidFill>
                  <a:srgbClr val="1E293B"/>
                </a:solidFill>
                <a:latin typeface="Calibri"/>
              </a:rPr>
              <a:t>Projeta o MPPI como criador do 1º Observatório Nacional de Compras Públicas do Ministério Público.</a:t>
            </a:r>
          </a:p>
        </p:txBody>
      </p:sp>
      <p:pic>
        <p:nvPicPr>
          <p:cNvPr id="8" name="Picture 7" descr="grafico_3_aneis_concentricos_mp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4937760" cy="39663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5120640"/>
            <a:ext cx="49377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t"/>
          <a:lstStyle/>
          <a:p>
            <a:pPr algn="ctr">
              <a:spcAft>
                <a:spcPts val="200"/>
              </a:spcAft>
              <a:defRPr sz="850" b="1">
                <a:solidFill>
                  <a:srgbClr val="CBD5E1"/>
                </a:solidFill>
                <a:latin typeface="Calibri"/>
              </a:defRPr>
            </a:pPr>
            <a:r>
              <a:t>INTEGRAÇÃO TECNOLÓGICA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Operacionalização: O Portal Lic.IA em 6 Módulos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Os dados dos 3 anéis alimentam em tempo real o Panorama Regional, Curvas de Preço, Simulador, 3 Linhas de Defesa, Minutas e RAG Semântico.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IMPACTO MENSURÁVEL PARA O MPPI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Resultados Práticos: Economicidade e Eficiência Orçamentária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/>
            <a:r>
              <a:rPr sz="2000" b="1">
                <a:solidFill>
                  <a:srgbClr val="A60225"/>
                </a:solidFill>
                <a:latin typeface="Calibri"/>
              </a:rPr>
              <a:t>R$ 68,8 Milhões  </a:t>
            </a:r>
            <a:r>
              <a:rPr sz="1050" b="1">
                <a:solidFill>
                  <a:srgbClr val="64748B"/>
                </a:solidFill>
                <a:latin typeface="Calibri"/>
              </a:rPr>
              <a:t>• ECONOMIA REGIONAL MAPEADA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Volume de deságios reais identificados na base de contratações dos 12 órgãos.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120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-70% do Tempo  </a:t>
            </a:r>
            <a:r>
              <a:rPr sz="1050" b="1">
                <a:solidFill>
                  <a:srgbClr val="64748B"/>
                </a:solidFill>
                <a:latin typeface="Calibri"/>
              </a:rPr>
              <a:t>• CELERIDADE PROCESSUAL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Redução drástica no tempo de confecção de TRs e saneamento de minutas.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100% Blindagem  </a:t>
            </a:r>
            <a:r>
              <a:rPr sz="1050" b="1">
                <a:solidFill>
                  <a:srgbClr val="64748B"/>
                </a:solidFill>
                <a:latin typeface="Calibri"/>
              </a:rPr>
              <a:t>• CONFORMIDADE TCE-PI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Mitigação integral dos riscos de suspensão de editais pelo Acórdão 300/2025.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CUSTO DE DESENVOLVIMENTO: ZERO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/>
              <a:t>Retorno Financeiro Imediato (ROI)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60225"/>
                </a:solidFill>
                <a:latin typeface="Calibri"/>
              </a:rPr>
              <a:t>Impacto: </a:t>
            </a:r>
            <a:r>
              <a:rPr sz="1050">
                <a:solidFill>
                  <a:srgbClr val="1E293B"/>
                </a:solidFill>
                <a:latin typeface="Calibri"/>
              </a:rPr>
              <a:t>Com apenas 1% de deságio adicional capturado em contratações estratégicas, o projeto se paga centenas de vezes.</a:t>
            </a:r>
          </a:p>
        </p:txBody>
      </p:sp>
      <p:pic>
        <p:nvPicPr>
          <p:cNvPr id="9" name="Picture 8" descr="grafico_desagio_regional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5212080" cy="3333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CATEGORIA: GOVERNANÇA E GESTÃO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Alinhamento Estratégico: Rumo ao Prêmio CNMP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300"/>
              <a:t>5 PILARES METODOLÓGICOS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300"/>
              <a:t>Aderência ao Regulamento do Prêmio CNMP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1. Resolutividade (100%): </a:t>
            </a:r>
            <a:r>
              <a:rPr sz="1300">
                <a:solidFill>
                  <a:srgbClr val="1E293B"/>
                </a:solidFill>
                <a:latin typeface="Calibri"/>
              </a:rPr>
              <a:t>Soluciona gargalos crônicos na instrução e na estimativa precisa de preços de referência.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2. Inovação (100%): </a:t>
            </a:r>
            <a:r>
              <a:rPr sz="1300">
                <a:solidFill>
                  <a:srgbClr val="1E293B"/>
                </a:solidFill>
                <a:latin typeface="Calibri"/>
              </a:rPr>
              <a:t>Aplicação pioneira de Inteligência Artificial e RAG sobre dados abertos de compras públicas no Brasil.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3. Proatividade (95%): </a:t>
            </a:r>
            <a:r>
              <a:rPr sz="1300">
                <a:solidFill>
                  <a:srgbClr val="1E293B"/>
                </a:solidFill>
                <a:latin typeface="Calibri"/>
              </a:rPr>
              <a:t>Atua preventivamente na 1ª Linha de Defesa antes da abertura do certame, evitando cautelares do TCE.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4. Cooperação (95%): </a:t>
            </a:r>
            <a:r>
              <a:rPr sz="1300">
                <a:solidFill>
                  <a:srgbClr val="1E293B"/>
                </a:solidFill>
                <a:latin typeface="Calibri"/>
              </a:rPr>
              <a:t>Integração e intercâmbio de dados entre MPs, Tribunais de Justiça e Tribunais de Contas do Nordeste.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5. Transparência (100%): </a:t>
            </a:r>
            <a:r>
              <a:rPr sz="1300">
                <a:solidFill>
                  <a:srgbClr val="1E293B"/>
                </a:solidFill>
                <a:latin typeface="Calibri"/>
              </a:rPr>
              <a:t>Auditabilidade total e acesso facilitado aos dados de contratações para os órgãos de controle e a sociedade.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A60225"/>
                </a:solidFill>
                <a:latin typeface="Calibri"/>
              </a:rPr>
              <a:t>Manual MPPI: </a:t>
            </a:r>
            <a:r>
              <a:rPr sz="1300">
                <a:solidFill>
                  <a:srgbClr val="1E293B"/>
                </a:solidFill>
                <a:latin typeface="Calibri"/>
              </a:rPr>
              <a:t>Estruturado rigorosamente segundo os Atos PGJ 1.025/2020 e 1.254/2022 sob supervisão da APG.</a:t>
            </a:r>
          </a:p>
        </p:txBody>
      </p:sp>
      <p:pic>
        <p:nvPicPr>
          <p:cNvPr id="6" name="Picture 5" descr="grafico_radar_cnmp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029200" cy="47254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CONFORMIDADE INTEGRAL COM A LEI 14.133/21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Governança e Blindagem: O Modelo das 3 Linhas de Defesa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 dirty="0"/>
              <a:t>CLC E COMISSÕES DE CONTRATAÇÃO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1ª LINHA: GESTÃO E OPERAÇÃO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Simulador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Preços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Definição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valores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referência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aderentes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à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realidade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regional.</a:t>
            </a:r>
          </a:p>
          <a:p>
            <a:pPr>
              <a:spcAft>
                <a:spcPts val="800"/>
              </a:spcAft>
            </a:pPr>
            <a:r>
              <a:rPr sz="1400" b="1" dirty="0" err="1">
                <a:solidFill>
                  <a:srgbClr val="A60225"/>
                </a:solidFill>
                <a:latin typeface="Calibri"/>
              </a:rPr>
              <a:t>Minutas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Parametrizadas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Garantia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que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editais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nasçam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sem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vícios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materiais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A60225"/>
                </a:solidFill>
                <a:latin typeface="Calibri"/>
              </a:rPr>
              <a:t>Master Checklist (15 </a:t>
            </a:r>
            <a:r>
              <a:rPr sz="1400" b="1" dirty="0" err="1">
                <a:solidFill>
                  <a:srgbClr val="A60225"/>
                </a:solidFill>
                <a:latin typeface="Calibri"/>
              </a:rPr>
              <a:t>itens</a:t>
            </a:r>
            <a:r>
              <a:rPr sz="1400" b="1" dirty="0">
                <a:solidFill>
                  <a:srgbClr val="A60225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Conferência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prévia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de 100% das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exigências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legais</a:t>
            </a:r>
            <a:r>
              <a:rPr sz="1400" dirty="0">
                <a:solidFill>
                  <a:srgbClr val="1E293B"/>
                </a:solidFill>
                <a:latin typeface="Calibri"/>
              </a:rPr>
              <a:t> antes do </a:t>
            </a:r>
            <a:r>
              <a:rPr sz="1400" dirty="0" err="1">
                <a:solidFill>
                  <a:srgbClr val="1E293B"/>
                </a:solidFill>
                <a:latin typeface="Calibri"/>
              </a:rPr>
              <a:t>envio</a:t>
            </a:r>
            <a:r>
              <a:rPr sz="140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/>
              <a:t>APG E CONTROLE INTERNO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/>
              <a:t>2ª LINHA: GESTÃO DE RISCOS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Matrizes de Riscos Automatizadas: </a:t>
            </a:r>
            <a:r>
              <a:rPr sz="1400">
                <a:solidFill>
                  <a:srgbClr val="1E293B"/>
                </a:solidFill>
                <a:latin typeface="Calibri"/>
              </a:rPr>
              <a:t>Identificação preventiva de eventos críticos em cada contratação.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Monitoramento de Metas: </a:t>
            </a:r>
            <a:r>
              <a:rPr sz="1400">
                <a:solidFill>
                  <a:srgbClr val="1E293B"/>
                </a:solidFill>
                <a:latin typeface="Calibri"/>
              </a:rPr>
              <a:t>Acompanhamento da economicidade e tempo médio de tramitação.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Aderência Normativa: </a:t>
            </a:r>
            <a:r>
              <a:rPr sz="1400">
                <a:solidFill>
                  <a:srgbClr val="1E293B"/>
                </a:solidFill>
                <a:latin typeface="Calibri"/>
              </a:rPr>
              <a:t>Alinhamento com o Plano de Contratações Anual (PCA) do MPPI.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400"/>
              <a:t>ASSESSORIA JURÍDICA E AUDITORIA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/>
              <a:t>3ª LINHA: AVALIAÇÃO INDEPENDENTE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Processos Pré-Saneados: </a:t>
            </a:r>
            <a:r>
              <a:rPr sz="1400">
                <a:solidFill>
                  <a:srgbClr val="1E293B"/>
                </a:solidFill>
                <a:latin typeface="Calibri"/>
              </a:rPr>
              <a:t>A Assessoria Jurídica recebe processos instruídos e validados matematicamente.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Fim das Devoluções: </a:t>
            </a:r>
            <a:r>
              <a:rPr sz="1400">
                <a:solidFill>
                  <a:srgbClr val="1E293B"/>
                </a:solidFill>
                <a:latin typeface="Calibri"/>
              </a:rPr>
              <a:t>Eliminação de diligências desnecessárias por falta de documentos formais.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A60225"/>
                </a:solidFill>
                <a:latin typeface="Calibri"/>
              </a:rPr>
              <a:t>Segurança Decisória: </a:t>
            </a:r>
            <a:r>
              <a:rPr sz="1400">
                <a:solidFill>
                  <a:srgbClr val="1E293B"/>
                </a:solidFill>
                <a:latin typeface="Calibri"/>
              </a:rPr>
              <a:t>O Procurador-Geral de Justiça homologa contratações 100% blindadas.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CRONOGRAMA DE IMPLANTAÇÃO E GOVERNANÇA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Roteiro de Formalização: Próximos Passos no SEI / MPPI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CLC / INÍCIO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01: Autuação no SEI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Abertura de processo sob o tipo 'Gestão Estratégica: Projetos Institucionais' com o Despacho Inicial da CLC.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METODOLOGIA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02: Validação na APG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Encaminhamento à Assessoria de Planejamento e Gestão para registro formal do TAP segundo Ato PGJ nº 1.025/2020.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INSTITUCIONALIZAÇÃO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03: Portaria da PGJ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Publicação de ato oficial da Procuradoria-Geral instituindo o projeto e designando a comissão técnica gestora.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tlCol="0" anchor="ctr"/>
          <a:lstStyle/>
          <a:p>
            <a:pPr algn="ctr">
              <a:spcAft>
                <a:spcPts val="6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RECONHECIMENTO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rPr sz="1600"/>
              <a:t>Passo 04: Inscrição no CNMP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sz="1050"/>
              <a:t>Submissão do dossiê ao Banco Nacional de Projetos do CNMP para concorrer na premiação nacional de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7772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109553"/>
                </a:solidFill>
                <a:latin typeface="Calibri"/>
              </a:defRPr>
            </a:pPr>
            <a:r>
              <a:t>ESTADO DE PRONTIDÃO: 100% DOS DOCUMENTOS JÁ REDIGIDOS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Minuta do Despacho Inicial da CLC: Pronta para autuação imediata no SEI.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Termo de Abertura de Projeto (TAP): Estruturado no Manual da APG com escopo nos 3 Anéis Concéntricos (Local, Regional e Nacional).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Código do Portal Web: Operacional em localhost:5173 com os 6 módulos integrados prontos para demonstração.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drao_mp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60225"/>
                </a:solidFill>
                <a:latin typeface="Calibri"/>
              </a:defRPr>
            </a:pPr>
            <a:r>
              <a:t>ENCAMINHAMENTO E DECISÃO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Conclusão Executiva: Deliberações Solicitadas à PGJ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18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BENEFÍCIOS ESTRATÉGICOS CONSOLIDADOS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/>
              <a:t>O Que o MPPI Conquista com o Projeto Lic.IA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1. Liderança Regional: </a:t>
            </a:r>
            <a:r>
              <a:rPr sz="1200">
                <a:solidFill>
                  <a:srgbClr val="1E293B"/>
                </a:solidFill>
                <a:latin typeface="Calibri"/>
              </a:rPr>
              <a:t>O MPPI se torna referência entre os órgãos públicos no uso inteligente de dados de contratações.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2. Proteção Jurídica Total: </a:t>
            </a:r>
            <a:r>
              <a:rPr sz="1200">
                <a:solidFill>
                  <a:srgbClr val="1E293B"/>
                </a:solidFill>
                <a:latin typeface="Calibri"/>
              </a:rPr>
              <a:t>Blindagem técnica da Administração Superior contra apontamentos do TCE-PI e controle externo.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3. Economicidade Real: </a:t>
            </a:r>
            <a:r>
              <a:rPr sz="1200">
                <a:solidFill>
                  <a:srgbClr val="1E293B"/>
                </a:solidFill>
                <a:latin typeface="Calibri"/>
              </a:rPr>
              <a:t>Aumento comprovado do deságio nas compras e maximização de cada centavo do orçamento.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4. Reconhecimento Nacional: </a:t>
            </a:r>
            <a:r>
              <a:rPr sz="1200">
                <a:solidFill>
                  <a:srgbClr val="1E293B"/>
                </a:solidFill>
                <a:latin typeface="Calibri"/>
              </a:rPr>
              <a:t>Candidatura sólida e com altíssima probabilidade de premiação no Prêmio CNMP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18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ctr">
              <a:spcAft>
                <a:spcPts val="300"/>
              </a:spcAft>
              <a:defRPr sz="900" b="1">
                <a:solidFill>
                  <a:srgbClr val="A60225"/>
                </a:solidFill>
                <a:latin typeface="Calibri"/>
              </a:defRPr>
            </a:pPr>
            <a:r>
              <a:rPr sz="1050"/>
              <a:t>DELIBERAÇÕES DA ADMINISTRAÇÃO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600"/>
              <a:t>Proposições Práticas Submetidas à Decisão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1. Autorização para Autuação: </a:t>
            </a:r>
            <a:r>
              <a:rPr sz="1200">
                <a:solidFill>
                  <a:srgbClr val="1E293B"/>
                </a:solidFill>
                <a:latin typeface="Calibri"/>
              </a:rPr>
              <a:t>Aprovação do início formal do processo administrativo no SEI/MPPI sob a responsabilidade da CLC.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2. Acolhimento pela APG: </a:t>
            </a:r>
            <a:r>
              <a:rPr sz="1200">
                <a:solidFill>
                  <a:srgbClr val="1E293B"/>
                </a:solidFill>
                <a:latin typeface="Calibri"/>
              </a:rPr>
              <a:t>Envio do TAP à Assessoria de Planejamento e Gestão para inclusão na carteira de projetos prioritários.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3. Publicação de Portaria PGJ: </a:t>
            </a:r>
            <a:r>
              <a:rPr sz="1200">
                <a:solidFill>
                  <a:srgbClr val="1E293B"/>
                </a:solidFill>
                <a:latin typeface="Calibri"/>
              </a:rPr>
              <a:t>Chancela oficial do Projeto Lic.IA no Diário Oficial Eletrônico do MPPI.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60225"/>
                </a:solidFill>
                <a:latin typeface="Calibri"/>
              </a:rPr>
              <a:t>4. Inscrição no Prêmio CNMP: </a:t>
            </a:r>
            <a:r>
              <a:rPr sz="1200">
                <a:solidFill>
                  <a:srgbClr val="1E293B"/>
                </a:solidFill>
                <a:latin typeface="Calibri"/>
              </a:rPr>
              <a:t>Autorização para preparação da submissão na Categoria Governança e Gestão em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0380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ctr">
              <a:defRPr sz="1100" b="1">
                <a:solidFill>
                  <a:srgbClr val="A60225"/>
                </a:solidFill>
                <a:latin typeface="Calibri"/>
              </a:defRPr>
            </a:pPr>
            <a:r>
              <a:rPr sz="1400"/>
              <a:t>"PROJETO Lic.IA: Governança, Preço Justo e Segurança Jurídica para o Ministério Público do Estado do Piauí."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2517</Words>
  <Application>Microsoft Office PowerPoint</Application>
  <PresentationFormat>Widescreen</PresentationFormat>
  <Paragraphs>173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THIAGO NOGUEIRA DE SOUSA MARTINS ALMEIDA</cp:lastModifiedBy>
  <cp:revision>4</cp:revision>
  <dcterms:created xsi:type="dcterms:W3CDTF">2013-01-27T09:14:16Z</dcterms:created>
  <dcterms:modified xsi:type="dcterms:W3CDTF">2026-10-02T12:52:32Z</dcterms:modified>
  <cp:category/>
</cp:coreProperties>
</file>