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1134" autoAdjust="0"/>
  </p:normalViewPr>
  <p:slideViewPr>
    <p:cSldViewPr snapToGrid="0" snapToObjects="1">
      <p:cViewPr varScale="1">
        <p:scale>
          <a:sx n="50" d="100"/>
          <a:sy n="50" d="100"/>
        </p:scale>
        <p:origin x="1260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1215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NOTAS DO ORADOR (Slide 1 - Abertura):</a:t>
            </a:r>
          </a:p>
          <a:p>
            <a:r>
              <a:t>Senhor Procurador-Geral de Justiça, Membros da Administração Superior e da APG.</a:t>
            </a:r>
          </a:p>
          <a:p>
            <a:r>
              <a:t>Apresentamos o PROJETO Lic.IA — concebido na Coordenadoria de Licitações e Contratos (CLC) para alçar as contratações públicas do MPPI a um patamar inédito de maturidade, segurança jurídica e eficiência orçamentária.</a:t>
            </a:r>
          </a:p>
          <a:p>
            <a:r>
              <a:t>Com base em mais de R$ 341 milhões analisados em 12 instituições da região, este projeto traz inovação tecnológica viva e atende integralmente aos requisitos de governança do Ato PGJ nº 1.025/2020 e aos critérios do Prêmio CNMP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NOTAS DO ORADOR (Slide 2 - Lic.IA):</a:t>
            </a:r>
          </a:p>
          <a:p>
            <a:r>
              <a:t>Senhor Procurador-Geral, por que batizamos este projeto de Lic.IA?</a:t>
            </a:r>
          </a:p>
          <a:p>
            <a:r>
              <a:t>O Sistema de Justiça no Piauí já se acostumou com inteligências artificiais com identidade humana e carismática: o TJ-PI tem a Júlia e a Sofia, e o MPPI tem a Omnis apoiando a atividade-fim dos nossos Promotores.</a:t>
            </a:r>
          </a:p>
          <a:p>
            <a:r>
              <a:t>Faltava uma IA para a atividade-meio e governança: a Lic.IA — Licitações + Inteligência Artificial.</a:t>
            </a:r>
          </a:p>
          <a:p>
            <a:r>
              <a:t>Ela atua como copiloto preventivo da 1ª linha de defesa, trazendo empatia, fácil comunicação e posicionamento de vanguarda perante o CNMP.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NOTAS DO ORADOR (Slide 3 - </a:t>
            </a:r>
            <a:r>
              <a:rPr dirty="0" err="1"/>
              <a:t>Diagnóstico</a:t>
            </a:r>
            <a:r>
              <a:rPr dirty="0"/>
              <a:t>):</a:t>
            </a:r>
          </a:p>
          <a:p>
            <a:r>
              <a:rPr dirty="0"/>
              <a:t>O </a:t>
            </a:r>
            <a:r>
              <a:rPr dirty="0" err="1"/>
              <a:t>cenário</a:t>
            </a:r>
            <a:r>
              <a:rPr dirty="0"/>
              <a:t> que </a:t>
            </a:r>
            <a:r>
              <a:rPr dirty="0" err="1"/>
              <a:t>enfrentamos</a:t>
            </a:r>
            <a:r>
              <a:rPr dirty="0"/>
              <a:t> </a:t>
            </a:r>
            <a:r>
              <a:rPr dirty="0" err="1"/>
              <a:t>hoje</a:t>
            </a:r>
            <a:r>
              <a:rPr dirty="0"/>
              <a:t>: </a:t>
            </a:r>
            <a:r>
              <a:rPr dirty="0" err="1"/>
              <a:t>assimetria</a:t>
            </a:r>
            <a:r>
              <a:rPr dirty="0"/>
              <a:t> </a:t>
            </a:r>
            <a:r>
              <a:rPr dirty="0" err="1"/>
              <a:t>severa</a:t>
            </a:r>
            <a:r>
              <a:rPr dirty="0"/>
              <a:t> de </a:t>
            </a:r>
            <a:r>
              <a:rPr dirty="0" err="1"/>
              <a:t>informações</a:t>
            </a:r>
            <a:r>
              <a:rPr dirty="0"/>
              <a:t> de </a:t>
            </a:r>
            <a:r>
              <a:rPr dirty="0" err="1"/>
              <a:t>mercado</a:t>
            </a:r>
            <a:r>
              <a:rPr dirty="0"/>
              <a:t>, um novo </a:t>
            </a:r>
            <a:r>
              <a:rPr dirty="0" err="1"/>
              <a:t>posicionamento</a:t>
            </a:r>
            <a:r>
              <a:rPr dirty="0"/>
              <a:t> </a:t>
            </a:r>
            <a:r>
              <a:rPr dirty="0" err="1"/>
              <a:t>muito</a:t>
            </a:r>
            <a:r>
              <a:rPr dirty="0"/>
              <a:t> </a:t>
            </a:r>
            <a:r>
              <a:rPr dirty="0" err="1"/>
              <a:t>rigoroso</a:t>
            </a:r>
            <a:r>
              <a:rPr dirty="0"/>
              <a:t> do Tribunal de </a:t>
            </a:r>
            <a:r>
              <a:rPr dirty="0" err="1"/>
              <a:t>Contas</a:t>
            </a:r>
            <a:r>
              <a:rPr dirty="0"/>
              <a:t> no </a:t>
            </a:r>
            <a:r>
              <a:rPr dirty="0" err="1"/>
              <a:t>Acórdão</a:t>
            </a:r>
            <a:r>
              <a:rPr dirty="0"/>
              <a:t> 300/2025 para </a:t>
            </a:r>
            <a:r>
              <a:rPr dirty="0" err="1"/>
              <a:t>caronas</a:t>
            </a:r>
            <a:r>
              <a:rPr dirty="0"/>
              <a:t>, e </a:t>
            </a:r>
            <a:r>
              <a:rPr dirty="0" err="1"/>
              <a:t>sobrecarga</a:t>
            </a:r>
            <a:r>
              <a:rPr dirty="0"/>
              <a:t> </a:t>
            </a:r>
            <a:r>
              <a:rPr dirty="0" err="1"/>
              <a:t>nas</a:t>
            </a:r>
            <a:r>
              <a:rPr dirty="0"/>
              <a:t> </a:t>
            </a:r>
            <a:r>
              <a:rPr dirty="0" err="1"/>
              <a:t>equipes</a:t>
            </a:r>
            <a:r>
              <a:rPr dirty="0"/>
              <a:t> de </a:t>
            </a:r>
            <a:r>
              <a:rPr dirty="0" err="1"/>
              <a:t>instrução</a:t>
            </a:r>
            <a:r>
              <a:rPr dirty="0"/>
              <a:t> e </a:t>
            </a:r>
            <a:r>
              <a:rPr dirty="0" err="1"/>
              <a:t>análise</a:t>
            </a:r>
            <a:r>
              <a:rPr dirty="0"/>
              <a:t> </a:t>
            </a:r>
            <a:r>
              <a:rPr dirty="0" err="1"/>
              <a:t>jurídica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NOTAS DO ORADOR (Slide 4 - Inovação e Gráfico Antes/Depois):</a:t>
            </a:r>
          </a:p>
          <a:p>
            <a:r>
              <a:t>O Projeto Lic.IA não concorre com as MJRs da PGJ; ele é a tecnologia que torna as MJRs automatizadas e aplicáveis em segundos.</a:t>
            </a:r>
          </a:p>
          <a:p>
            <a:r>
              <a:t>Vejam no gráfico o impacto concreto: o tempo de instrução despenca de 35 para 10 dias, as devoluções para diligência caem de 45% para 12%, e as adesões a atas passam a ter 100% de blindagem jurídica.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NOTAS DO ORADOR (Slide 5 - Arquitetura dos 3 Anéis e Expansão Federal):</a:t>
            </a:r>
          </a:p>
          <a:p>
            <a:r>
              <a:t>Senhor Procurador-Geral, vejam a abrangência desta arquitetura:</a:t>
            </a:r>
          </a:p>
          <a:p>
            <a:r>
              <a:t>1º Anel (Local): MPPI + TJ-PI + TCE-PI para blindagem de mercado em Teresina e cumprimento do Acórdão 300/2025;</a:t>
            </a:r>
          </a:p>
          <a:p>
            <a:r>
              <a:t>2º Anel (Regional): Os 9 MPs do Nordeste, estabelecendo a régua empírica de 20,18% de deságio;</a:t>
            </a:r>
          </a:p>
          <a:p>
            <a:r>
              <a:t>3º Anel (Nacional e Federal): Expansão via PNCP abrangendo os 26 MPs estaduais e todos os ramos federais da União: MPF, MPT, MPM, MPDFT e o próprio CNMP.</a:t>
            </a:r>
          </a:p>
          <a:p>
            <a:r>
              <a:t>Essa amplitude unifica as contratações ministeriais em todo o país e torna a nossa candidatura ao Prêmio CNMP 2026 imbatível.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NOTAS DO ORADOR (Slide 6 - Economia Real vs. Deságio Ilusório):</a:t>
            </a:r>
          </a:p>
          <a:p>
            <a:r>
              <a:t>Aqui reside um dos maiores diferenciais técnicos e metodológicos do PROJETO Lic.IA:</a:t>
            </a:r>
          </a:p>
          <a:p>
            <a:r>
              <a:t>Muitas vezes, a Administração comemora 'grandes deságios' (30% a 40%) que nada mais são do que o reflexo de uma pesquisa de preços inicial superestimada por cotações de favor de fornecedores.</a:t>
            </a:r>
          </a:p>
          <a:p>
            <a:r>
              <a:t>A Lic.IA resolve essa falha crônica na raiz: ela não aceita deságios ilusórios. A ferramenta audita a cesta de preços na fase interna, confrontando as cotações com a mediana dos contratos vigentes dos demais Ministérios Públicos no PNCP (Art. 23 da Lei nº 14.133/2021).</a:t>
            </a:r>
          </a:p>
          <a:p>
            <a:r>
              <a:t>O resultado é uma Economia Real Federada (True Savings) de R$ 48,2 Milhões, protegendo a instituição e o ordenador de despesas contra apontamentos de sobrepreço do TCE-PI e TCU.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NOTAS DO ORADOR (Slide 7 - Prêmio CNMP):</a:t>
            </a:r>
          </a:p>
          <a:p>
            <a:r>
              <a:t>O gráfico radar evidencia visualmente a aderência do Projeto Lic.IA aos cinco critérios eliminatórios e classificatórios do Prêmio CNMP na Categoria Governança e Gestão.</a:t>
            </a:r>
          </a:p>
          <a:p>
            <a:r>
              <a:t>O projeto cumpre com excelência cada quesito e foi desenhado nos moldes do Manual de Projetos do MPPI, posicionando nossa instituição para disputar o topo do pódio nacional.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NOTAS DO ORADOR (Slide 8 - Três Linhas de Defesa):</a:t>
            </a:r>
          </a:p>
          <a:p>
            <a:r>
              <a:t>O Projeto Lic.IA fortalece cada uma das três linhas de defesa do MPPI:</a:t>
            </a:r>
          </a:p>
          <a:p>
            <a:r>
              <a:t>Dá poder operacional à CLC, fornece inteligência de riscos à APG e ao Controle Interno, e entrega processos limpos e seguros para a Assessoria Jurídica e para a decisão do Procurador-Geral de Justiça.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NOTAS DO ORADOR (Slide 9 - Roteiro SEI):</a:t>
            </a:r>
          </a:p>
          <a:p>
            <a:r>
              <a:t>Todos os documentos para autuação imediata no SEI estão redigidos. A proposta exige esforço de tramitação reduzido e conta com total conformidade com o Manual de Projetos do MPPI.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padrao_mpp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60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914400"/>
            <a:ext cx="8961120" cy="3037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60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365760" rtlCol="0" anchor="ctr"/>
          <a:lstStyle/>
          <a:p>
            <a:pPr algn="ctr">
              <a:spcAft>
                <a:spcPts val="1000"/>
              </a:spcAft>
            </a:pPr>
            <a:r>
              <a:rPr sz="1100" b="1">
                <a:solidFill>
                  <a:srgbClr val="A60225"/>
                </a:solidFill>
                <a:latin typeface="Calibri"/>
              </a:rPr>
              <a:t>CLC  |  </a:t>
            </a:r>
            <a:r>
              <a:rPr sz="1100" b="1">
                <a:solidFill>
                  <a:srgbClr val="5A5A5A"/>
                </a:solidFill>
                <a:latin typeface="Calibri"/>
              </a:rPr>
              <a:t>COORDENADORIA DE LICITAÇÕES E CONTRATOS DO MPPI</a:t>
            </a:r>
          </a:p>
          <a:p>
            <a:pPr>
              <a:spcAft>
                <a:spcPts val="400"/>
              </a:spcAft>
              <a:defRPr sz="4400" b="1">
                <a:solidFill>
                  <a:srgbClr val="A60225"/>
                </a:solidFill>
                <a:latin typeface="Calibri"/>
              </a:defRPr>
            </a:pPr>
            <a:r>
              <a:t>PROJETO Lic.IA</a:t>
            </a:r>
          </a:p>
          <a:p>
            <a:pPr>
              <a:spcAft>
                <a:spcPts val="12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Observatório de Governança, Preços e Inteligência em Contratações Públicas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Transformando dados de compras públicas em blindagem jurídica, economicidade comprovada e candidatura ao Prêmio CNMP 2026.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26280"/>
            <a:ext cx="29260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37160" rtlCol="0" anchor="ctr"/>
          <a:lstStyle/>
          <a:p>
            <a:pPr algn="ctr">
              <a:defRPr sz="1900" b="1">
                <a:solidFill>
                  <a:srgbClr val="A60225"/>
                </a:solidFill>
                <a:latin typeface="Calibri"/>
              </a:defRPr>
            </a:pPr>
            <a:r>
              <a:rPr sz="2400" dirty="0"/>
              <a:t>R$ 341.6M+</a:t>
            </a:r>
          </a:p>
          <a:p>
            <a:pPr algn="ctr">
              <a:defRPr sz="950" b="1">
                <a:solidFill>
                  <a:srgbClr val="0F172A"/>
                </a:solidFill>
                <a:latin typeface="Calibri"/>
              </a:defRPr>
            </a:pPr>
            <a:r>
              <a:rPr sz="1050" dirty="0"/>
              <a:t>Volume Regional </a:t>
            </a:r>
            <a:r>
              <a:rPr sz="1050" dirty="0" err="1"/>
              <a:t>Analisado</a:t>
            </a:r>
            <a:endParaRPr sz="1050" dirty="0"/>
          </a:p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rPr sz="1000" dirty="0"/>
              <a:t>12 </a:t>
            </a:r>
            <a:r>
              <a:rPr sz="1000" dirty="0" err="1"/>
              <a:t>Órgãos</a:t>
            </a:r>
            <a:r>
              <a:rPr sz="1000" dirty="0"/>
              <a:t> do </a:t>
            </a:r>
            <a:r>
              <a:rPr sz="1000" dirty="0" err="1"/>
              <a:t>Nordeste</a:t>
            </a:r>
            <a:endParaRPr sz="1000" dirty="0"/>
          </a:p>
        </p:txBody>
      </p:sp>
      <p:sp>
        <p:nvSpPr>
          <p:cNvPr id="6" name="Rounded Rectangle 5"/>
          <p:cNvSpPr/>
          <p:nvPr/>
        </p:nvSpPr>
        <p:spPr>
          <a:xfrm>
            <a:off x="3840480" y="4526280"/>
            <a:ext cx="29260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37160" rtlCol="0" anchor="ctr"/>
          <a:lstStyle/>
          <a:p>
            <a:pPr algn="ctr">
              <a:defRPr sz="1900" b="1">
                <a:solidFill>
                  <a:srgbClr val="A60225"/>
                </a:solidFill>
                <a:latin typeface="Calibri"/>
              </a:defRPr>
            </a:pPr>
            <a:r>
              <a:rPr sz="2400"/>
              <a:t>20,18%</a:t>
            </a:r>
          </a:p>
          <a:p>
            <a:pPr algn="ctr">
              <a:defRPr sz="950" b="1">
                <a:solidFill>
                  <a:srgbClr val="0F172A"/>
                </a:solidFill>
                <a:latin typeface="Calibri"/>
              </a:defRPr>
            </a:pPr>
            <a:r>
              <a:rPr sz="1050"/>
              <a:t>Deságio Médio em Licitações</a:t>
            </a:r>
          </a:p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rPr sz="1000"/>
              <a:t>R$ 68,8M em Economia Mapeada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4526280"/>
            <a:ext cx="29260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37160" rtlCol="0" anchor="ctr"/>
          <a:lstStyle/>
          <a:p>
            <a:pPr algn="ctr">
              <a:defRPr sz="1900" b="1">
                <a:solidFill>
                  <a:srgbClr val="A60225"/>
                </a:solidFill>
                <a:latin typeface="Calibri"/>
              </a:defRPr>
            </a:pPr>
            <a:r>
              <a:rPr sz="2400"/>
              <a:t>10.504</a:t>
            </a:r>
          </a:p>
          <a:p>
            <a:pPr algn="ctr">
              <a:defRPr sz="950" b="1">
                <a:solidFill>
                  <a:srgbClr val="0F172A"/>
                </a:solidFill>
                <a:latin typeface="Calibri"/>
              </a:defRPr>
            </a:pPr>
            <a:r>
              <a:rPr sz="1050"/>
              <a:t>Contratos e Editais Minerados</a:t>
            </a:r>
          </a:p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rPr sz="1000"/>
              <a:t>Motor de IA / RAG em Tempo Real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padrao_mpp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60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A60225"/>
                </a:solidFill>
                <a:latin typeface="Calibri"/>
              </a:defRPr>
            </a:pPr>
            <a:r>
              <a:t>CONCEITO E IDENTIDADE INSTITUCIONAL</a:t>
            </a:r>
          </a:p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Por Que 'Lic.IA'? A Nova Inteligência Artificial de Licitações do MPPI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0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400"/>
              </a:spcAft>
              <a:defRPr sz="900" b="1">
                <a:solidFill>
                  <a:srgbClr val="A60225"/>
                </a:solidFill>
                <a:latin typeface="Calibri"/>
              </a:defRPr>
            </a:pPr>
            <a:r>
              <a:t>ECOSSISTEMA DE IA DO SISTEMA DE JUSTIÇA</a:t>
            </a:r>
          </a:p>
          <a:p>
            <a:pPr>
              <a:spcAft>
                <a:spcPts val="800"/>
              </a:spcAft>
              <a:defRPr sz="1350" b="1">
                <a:solidFill>
                  <a:srgbClr val="0F172A"/>
                </a:solidFill>
                <a:latin typeface="Calibri"/>
              </a:defRPr>
            </a:pPr>
            <a:r>
              <a:t>A Gênese da Marca: Licitações + Inteligência Artificial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A60225"/>
                </a:solidFill>
                <a:latin typeface="Calibri"/>
              </a:rPr>
              <a:t>Trocadilho Fonético: </a:t>
            </a:r>
            <a:r>
              <a:rPr sz="1050">
                <a:solidFill>
                  <a:srgbClr val="1E293B"/>
                </a:solidFill>
                <a:latin typeface="Calibri"/>
              </a:rPr>
              <a:t>Lic.IA (pronuncia-se 'Lícia') — nome próprio que evoca lucidez, transparência e clareza na gestão do gasto público.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A60225"/>
                </a:solidFill>
                <a:latin typeface="Calibri"/>
              </a:rPr>
              <a:t>Harmonia Institucional: </a:t>
            </a:r>
            <a:r>
              <a:rPr sz="1050">
                <a:solidFill>
                  <a:srgbClr val="1E293B"/>
                </a:solidFill>
                <a:latin typeface="Calibri"/>
              </a:rPr>
              <a:t>No TJ-PI existem JÚLIA e SOFIA; no MPPI já temos a OMNIS na atividade-fim. A Lic.IA nasce como a IA oficial da atividade-meio e governança de compras.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A60225"/>
                </a:solidFill>
                <a:latin typeface="Calibri"/>
              </a:rPr>
              <a:t>Comunicação Imediata: </a:t>
            </a:r>
            <a:r>
              <a:rPr sz="1050">
                <a:solidFill>
                  <a:srgbClr val="1E293B"/>
                </a:solidFill>
                <a:latin typeface="Calibri"/>
              </a:rPr>
              <a:t>Elimina barreiras de compreensão. Qualquer servidor, pregoeiro ou cidadão compreende de pronto a vocação do projeto.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A60225"/>
                </a:solidFill>
                <a:latin typeface="Calibri"/>
              </a:rPr>
              <a:t>Pioneirismo Nacional: </a:t>
            </a:r>
            <a:r>
              <a:rPr sz="1050">
                <a:solidFill>
                  <a:srgbClr val="1E293B"/>
                </a:solidFill>
                <a:latin typeface="Calibri"/>
              </a:rPr>
              <a:t>Marca inédita entre todos os tribunais e Ministérios Públicos do país, assegurando exclusividade e destaque no CNMP.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400"/>
              </a:spcAft>
              <a:defRPr sz="900" b="1">
                <a:solidFill>
                  <a:srgbClr val="CBD5E1"/>
                </a:solidFill>
                <a:latin typeface="Calibri"/>
              </a:defRPr>
            </a:pPr>
            <a:r>
              <a:t>GOVERNANÇA PREVENTIVA E SEGURANÇA JURÍDICA</a:t>
            </a:r>
          </a:p>
          <a:p>
            <a:pPr>
              <a:spcAft>
                <a:spcPts val="800"/>
              </a:spcAft>
              <a:defRPr sz="1350" b="1">
                <a:solidFill>
                  <a:srgbClr val="0F172A"/>
                </a:solidFill>
                <a:latin typeface="Calibri"/>
              </a:defRPr>
            </a:pPr>
            <a:r>
              <a:t>Missão e Propósito Estratégico da Lic.IA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A60225"/>
                </a:solidFill>
                <a:latin typeface="Calibri"/>
              </a:rPr>
              <a:t>1ª Linha de Defesa: </a:t>
            </a:r>
            <a:r>
              <a:rPr sz="1050">
                <a:solidFill>
                  <a:srgbClr val="1E293B"/>
                </a:solidFill>
                <a:latin typeface="Calibri"/>
              </a:rPr>
              <a:t>Atua como copiloto preditivo dos servidores e pregoeiros da CLC, saneando minutas e automatizando pesquisas mercadológicas.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A60225"/>
                </a:solidFill>
                <a:latin typeface="Calibri"/>
              </a:rPr>
              <a:t>Blindagem Jurídica Ativa: </a:t>
            </a:r>
            <a:r>
              <a:rPr sz="1050">
                <a:solidFill>
                  <a:srgbClr val="1E293B"/>
                </a:solidFill>
                <a:latin typeface="Calibri"/>
              </a:rPr>
              <a:t>Mitigação automática de riscos de impugnação e estrito cumprimento do Acórdão 300/2025 do TCE-PI para adesões a atas (caronas).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A60225"/>
                </a:solidFill>
                <a:latin typeface="Calibri"/>
              </a:rPr>
              <a:t>Proteção ao Gestor Público: </a:t>
            </a:r>
            <a:r>
              <a:rPr sz="1050">
                <a:solidFill>
                  <a:srgbClr val="1E293B"/>
                </a:solidFill>
                <a:latin typeface="Calibri"/>
              </a:rPr>
              <a:t>Fornece subsídios técnicos irrefutáveis e relatórios estatísticos para respaldo da decisão do Procurador-Geral de Justiça.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A60225"/>
                </a:solidFill>
                <a:latin typeface="Calibri"/>
              </a:rPr>
              <a:t>Ciência de Dados Viva: </a:t>
            </a:r>
            <a:r>
              <a:rPr sz="1050">
                <a:solidFill>
                  <a:srgbClr val="1E293B"/>
                </a:solidFill>
                <a:latin typeface="Calibri"/>
              </a:rPr>
              <a:t>Motor de busca semântica RAG, curvas de deságio regional e aprendizado contínuo integrados à rotina do SEI/MPPI.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532120"/>
            <a:ext cx="84124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0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09728"/>
          <a:lstStyle/>
          <a:p>
            <a:pPr algn="ctr">
              <a:defRPr sz="1100" b="1">
                <a:solidFill>
                  <a:srgbClr val="A60225"/>
                </a:solidFill>
                <a:latin typeface="Calibri"/>
              </a:defRPr>
            </a:pPr>
            <a:r>
              <a:t>"Lic.IA: Inteligência Artificial, Preço Justo e Segurança Jurídica para o Ministério Público do Estado do Piauí."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padrao_mpp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60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A60225"/>
                </a:solidFill>
                <a:latin typeface="Calibri"/>
              </a:defRPr>
            </a:pPr>
            <a:r>
              <a:t>DIAGNÓSTICO E CONTEXTO DE RISCO</a:t>
            </a:r>
          </a:p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O Problema Real: Desafios Críticos nas Contratações Públicas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t"/>
          <a:lstStyle/>
          <a:p>
            <a:pPr algn="ctr">
              <a:spcAft>
                <a:spcPts val="300"/>
              </a:spcAft>
              <a:defRPr sz="900" b="1">
                <a:solidFill>
                  <a:srgbClr val="A60225"/>
                </a:solidFill>
                <a:latin typeface="Calibri"/>
              </a:defRPr>
            </a:pPr>
            <a:r>
              <a:rPr sz="1400" dirty="0"/>
              <a:t>DESAFIO 01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rPr sz="1400" dirty="0" err="1"/>
              <a:t>Assimetria</a:t>
            </a:r>
            <a:r>
              <a:rPr sz="1400" dirty="0"/>
              <a:t> de </a:t>
            </a:r>
            <a:r>
              <a:rPr sz="1400" dirty="0" err="1"/>
              <a:t>Preços</a:t>
            </a:r>
            <a:r>
              <a:rPr sz="1400" dirty="0"/>
              <a:t> no Mercado</a:t>
            </a:r>
          </a:p>
          <a:p>
            <a:pPr>
              <a:spcAft>
                <a:spcPts val="800"/>
              </a:spcAft>
            </a:pPr>
            <a:r>
              <a:rPr sz="1400" b="1" dirty="0" err="1">
                <a:solidFill>
                  <a:srgbClr val="A60225"/>
                </a:solidFill>
                <a:latin typeface="Calibri"/>
              </a:rPr>
              <a:t>Cotações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A60225"/>
                </a:solidFill>
                <a:latin typeface="Calibri"/>
              </a:rPr>
              <a:t>Infladas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: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Orçamentos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prévios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baseados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em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cotações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diretas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sem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histórico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de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homologação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costumam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inflar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os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valores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de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referência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400" b="1" dirty="0" err="1">
                <a:solidFill>
                  <a:srgbClr val="A60225"/>
                </a:solidFill>
                <a:latin typeface="Calibri"/>
              </a:rPr>
              <a:t>Deságio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A60225"/>
                </a:solidFill>
                <a:latin typeface="Calibri"/>
              </a:rPr>
              <a:t>Desconhecido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: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Sem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dados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regionais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consolidados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, o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órgão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licita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sem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saber que o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mercado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pratica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deságios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superiores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a 20%.</a:t>
            </a:r>
          </a:p>
          <a:p>
            <a:pPr>
              <a:spcAft>
                <a:spcPts val="800"/>
              </a:spcAft>
            </a:pPr>
            <a:r>
              <a:rPr sz="1400" b="1" dirty="0" err="1">
                <a:solidFill>
                  <a:srgbClr val="A60225"/>
                </a:solidFill>
                <a:latin typeface="Calibri"/>
              </a:rPr>
              <a:t>Risco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A60225"/>
                </a:solidFill>
                <a:latin typeface="Calibri"/>
              </a:rPr>
              <a:t>ao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A60225"/>
                </a:solidFill>
                <a:latin typeface="Calibri"/>
              </a:rPr>
              <a:t>Erário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: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Contratações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homologadas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pelo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teto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orçado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geram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desperdício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invisível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de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recursos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públicos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escassos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46304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t"/>
          <a:lstStyle/>
          <a:p>
            <a:pPr algn="ctr">
              <a:spcAft>
                <a:spcPts val="300"/>
              </a:spcAft>
              <a:defRPr sz="900" b="1">
                <a:solidFill>
                  <a:srgbClr val="A60225"/>
                </a:solidFill>
                <a:latin typeface="Calibri"/>
              </a:defRPr>
            </a:pPr>
            <a:r>
              <a:rPr sz="1400" dirty="0"/>
              <a:t>DESAFIO 02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rPr sz="1400" dirty="0" err="1"/>
              <a:t>Insegurança</a:t>
            </a:r>
            <a:r>
              <a:rPr sz="1400" dirty="0"/>
              <a:t> </a:t>
            </a:r>
            <a:r>
              <a:rPr sz="1400" dirty="0" err="1"/>
              <a:t>em</a:t>
            </a:r>
            <a:r>
              <a:rPr sz="1400" dirty="0"/>
              <a:t> </a:t>
            </a:r>
            <a:r>
              <a:rPr sz="1400" dirty="0" err="1"/>
              <a:t>Adesões</a:t>
            </a:r>
            <a:r>
              <a:rPr sz="1400" dirty="0"/>
              <a:t> (</a:t>
            </a:r>
            <a:r>
              <a:rPr sz="1400" dirty="0" err="1"/>
              <a:t>Caronas</a:t>
            </a:r>
            <a:r>
              <a:rPr sz="1400" dirty="0"/>
              <a:t>)</a:t>
            </a:r>
          </a:p>
          <a:p>
            <a:pPr>
              <a:spcAft>
                <a:spcPts val="800"/>
              </a:spcAft>
            </a:pPr>
            <a:r>
              <a:rPr sz="1400" b="1" dirty="0" err="1">
                <a:solidFill>
                  <a:srgbClr val="A60225"/>
                </a:solidFill>
                <a:latin typeface="Calibri"/>
              </a:rPr>
              <a:t>Acórdão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 300/2025 TCE-PI: </a:t>
            </a:r>
            <a:r>
              <a:rPr sz="1400" dirty="0">
                <a:solidFill>
                  <a:srgbClr val="1E293B"/>
                </a:solidFill>
                <a:latin typeface="Calibri"/>
              </a:rPr>
              <a:t>O Tribunal de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Contas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passou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a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exigir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comprovação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estrita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de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vantagem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local e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estudo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de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viabilidade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real para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adesões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a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atas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400" b="1" dirty="0" err="1">
                <a:solidFill>
                  <a:srgbClr val="A60225"/>
                </a:solidFill>
                <a:latin typeface="Calibri"/>
              </a:rPr>
              <a:t>Vedação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A60225"/>
                </a:solidFill>
                <a:latin typeface="Calibri"/>
              </a:rPr>
              <a:t>ao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A60225"/>
                </a:solidFill>
                <a:latin typeface="Calibri"/>
              </a:rPr>
              <a:t>Modelo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A60225"/>
                </a:solidFill>
                <a:latin typeface="Calibri"/>
              </a:rPr>
              <a:t>Genérico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: </a:t>
            </a:r>
            <a:r>
              <a:rPr sz="1400" dirty="0">
                <a:solidFill>
                  <a:srgbClr val="1E293B"/>
                </a:solidFill>
                <a:latin typeface="Calibri"/>
              </a:rPr>
              <a:t>A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mera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cópia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de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justificativas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alheias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enseja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nulidade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e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responsabilização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pessoal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do gestor.</a:t>
            </a:r>
          </a:p>
          <a:p>
            <a:pPr>
              <a:spcAft>
                <a:spcPts val="800"/>
              </a:spcAft>
            </a:pPr>
            <a:r>
              <a:rPr sz="1400" b="1" dirty="0" err="1">
                <a:solidFill>
                  <a:srgbClr val="A60225"/>
                </a:solidFill>
                <a:latin typeface="Calibri"/>
              </a:rPr>
              <a:t>Necessidade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 de </a:t>
            </a:r>
            <a:r>
              <a:rPr sz="1400" b="1" dirty="0" err="1">
                <a:solidFill>
                  <a:srgbClr val="A60225"/>
                </a:solidFill>
                <a:latin typeface="Calibri"/>
              </a:rPr>
              <a:t>Blindagem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: </a:t>
            </a:r>
            <a:r>
              <a:rPr sz="1400" dirty="0">
                <a:solidFill>
                  <a:srgbClr val="1E293B"/>
                </a:solidFill>
                <a:latin typeface="Calibri"/>
              </a:rPr>
              <a:t>O MPPI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precisa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de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parâmetros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empíricos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irrefutáveis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para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fundamentar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cada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adesão</a:t>
            </a:r>
            <a:r>
              <a:rPr sz="1400" dirty="0">
                <a:solidFill>
                  <a:srgbClr val="1E293B"/>
                </a:solidFill>
                <a:latin typeface="Calibr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46304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t"/>
          <a:lstStyle/>
          <a:p>
            <a:pPr algn="ctr">
              <a:spcAft>
                <a:spcPts val="300"/>
              </a:spcAft>
              <a:defRPr sz="900" b="1">
                <a:solidFill>
                  <a:srgbClr val="A60225"/>
                </a:solidFill>
                <a:latin typeface="Calibri"/>
              </a:defRPr>
            </a:pPr>
            <a:r>
              <a:rPr sz="1400"/>
              <a:t>DESAFIO 03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rPr sz="1400"/>
              <a:t>Sobrecarga da Análise Jurídica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A60225"/>
                </a:solidFill>
                <a:latin typeface="Calibri"/>
              </a:rPr>
              <a:t>Pareceres Repetitivos: </a:t>
            </a:r>
            <a:r>
              <a:rPr sz="1400">
                <a:solidFill>
                  <a:srgbClr val="1E293B"/>
                </a:solidFill>
                <a:latin typeface="Calibri"/>
              </a:rPr>
              <a:t>Horas de trabalho técnico desperdiçadas na checagem manual de itens meramente formais de editais e termos de referência.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A60225"/>
                </a:solidFill>
                <a:latin typeface="Calibri"/>
              </a:rPr>
              <a:t>Retrabalho Constante: </a:t>
            </a:r>
            <a:r>
              <a:rPr sz="1400">
                <a:solidFill>
                  <a:srgbClr val="1E293B"/>
                </a:solidFill>
                <a:latin typeface="Calibri"/>
              </a:rPr>
              <a:t>Divergências de minutas entre setores causam devoluções frequentes e morosidade no calendário de compras.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A60225"/>
                </a:solidFill>
                <a:latin typeface="Calibri"/>
              </a:rPr>
              <a:t>Falta de RAG Ativo: </a:t>
            </a:r>
            <a:r>
              <a:rPr sz="1400">
                <a:solidFill>
                  <a:srgbClr val="1E293B"/>
                </a:solidFill>
                <a:latin typeface="Calibri"/>
              </a:rPr>
              <a:t>Dificuldade de cruzar em tempo real as minutas novas com os precedentes e orientações vigentes.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padrao_mpp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60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A60225"/>
                </a:solidFill>
                <a:latin typeface="Calibri"/>
              </a:defRPr>
            </a:pPr>
            <a:r>
              <a:t>DIFERENCIAÇÃO ESTRATÉGICA</a:t>
            </a:r>
          </a:p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A Verdadeira Inovação: Muito Além das MJRs Tradicionais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0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t"/>
          <a:lstStyle/>
          <a:p>
            <a:pPr algn="ctr">
              <a:spcAft>
                <a:spcPts val="300"/>
              </a:spcAft>
              <a:defRPr sz="900" b="1">
                <a:solidFill>
                  <a:srgbClr val="A60225"/>
                </a:solidFill>
                <a:latin typeface="Calibri"/>
              </a:defRPr>
            </a:pPr>
            <a:r>
              <a:rPr sz="1500" dirty="0"/>
              <a:t>SALTO DE MATURIDADE GERENCIAL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rPr sz="1500" dirty="0" err="1"/>
              <a:t>Inteligência</a:t>
            </a:r>
            <a:r>
              <a:rPr sz="1500" dirty="0"/>
              <a:t> </a:t>
            </a:r>
            <a:r>
              <a:rPr sz="1500" dirty="0" err="1"/>
              <a:t>Ativa</a:t>
            </a:r>
            <a:r>
              <a:rPr sz="1500" dirty="0"/>
              <a:t> vs. </a:t>
            </a:r>
            <a:r>
              <a:rPr sz="1500" dirty="0" err="1"/>
              <a:t>Documentos</a:t>
            </a:r>
            <a:r>
              <a:rPr sz="1500" dirty="0"/>
              <a:t> </a:t>
            </a:r>
            <a:r>
              <a:rPr sz="1500" dirty="0" err="1"/>
              <a:t>Estáticos</a:t>
            </a:r>
            <a:endParaRPr sz="1500" dirty="0"/>
          </a:p>
          <a:p>
            <a:pPr>
              <a:spcAft>
                <a:spcPts val="600"/>
              </a:spcAft>
            </a:pPr>
            <a:r>
              <a:rPr sz="1500" b="1" dirty="0">
                <a:solidFill>
                  <a:srgbClr val="A60225"/>
                </a:solidFill>
                <a:latin typeface="Calibri"/>
              </a:rPr>
              <a:t>O que o MPPI </a:t>
            </a:r>
            <a:r>
              <a:rPr sz="1500" b="1" dirty="0" err="1">
                <a:solidFill>
                  <a:srgbClr val="A60225"/>
                </a:solidFill>
                <a:latin typeface="Calibri"/>
              </a:rPr>
              <a:t>já</a:t>
            </a:r>
            <a:r>
              <a:rPr sz="1500" b="1" dirty="0">
                <a:solidFill>
                  <a:srgbClr val="A60225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A60225"/>
                </a:solidFill>
                <a:latin typeface="Calibri"/>
              </a:rPr>
              <a:t>possui</a:t>
            </a:r>
            <a:r>
              <a:rPr sz="1500" b="1" dirty="0">
                <a:solidFill>
                  <a:srgbClr val="A60225"/>
                </a:solidFill>
                <a:latin typeface="Calibri"/>
              </a:rPr>
              <a:t>: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Excelentes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Manifestações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Jurídicas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Referenciais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(MJRs 56, 66, 86, 92, 95) da PGJ,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porém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residem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em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repositórios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estáticos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em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PDF.</a:t>
            </a:r>
          </a:p>
          <a:p>
            <a:pPr>
              <a:spcAft>
                <a:spcPts val="600"/>
              </a:spcAft>
            </a:pPr>
            <a:r>
              <a:rPr sz="1500" b="1" dirty="0">
                <a:solidFill>
                  <a:srgbClr val="A60225"/>
                </a:solidFill>
                <a:latin typeface="Calibri"/>
              </a:rPr>
              <a:t>A </a:t>
            </a:r>
            <a:r>
              <a:rPr sz="1500" b="1" dirty="0" err="1">
                <a:solidFill>
                  <a:srgbClr val="A60225"/>
                </a:solidFill>
                <a:latin typeface="Calibri"/>
              </a:rPr>
              <a:t>Inovação</a:t>
            </a:r>
            <a:r>
              <a:rPr sz="1500" b="1" dirty="0">
                <a:solidFill>
                  <a:srgbClr val="A60225"/>
                </a:solidFill>
                <a:latin typeface="Calibri"/>
              </a:rPr>
              <a:t> do Lic.IA: </a:t>
            </a:r>
            <a:r>
              <a:rPr sz="1500" dirty="0">
                <a:solidFill>
                  <a:srgbClr val="1E293B"/>
                </a:solidFill>
                <a:latin typeface="Calibri"/>
              </a:rPr>
              <a:t>O Lic.IA é o motor de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execução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ativo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que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lê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a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minuta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do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processo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no SEI e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audita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100% dos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requisitos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das MJRs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em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segundos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com IA / RAG.</a:t>
            </a:r>
          </a:p>
          <a:p>
            <a:pPr>
              <a:spcAft>
                <a:spcPts val="600"/>
              </a:spcAft>
            </a:pPr>
            <a:r>
              <a:rPr sz="1500" b="1" dirty="0" err="1">
                <a:solidFill>
                  <a:srgbClr val="A60225"/>
                </a:solidFill>
                <a:latin typeface="Calibri"/>
              </a:rPr>
              <a:t>Blindagem</a:t>
            </a:r>
            <a:r>
              <a:rPr sz="1500" b="1" dirty="0">
                <a:solidFill>
                  <a:srgbClr val="A60225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A60225"/>
                </a:solidFill>
                <a:latin typeface="Calibri"/>
              </a:rPr>
              <a:t>Acórdão</a:t>
            </a:r>
            <a:r>
              <a:rPr sz="1500" b="1" dirty="0">
                <a:solidFill>
                  <a:srgbClr val="A60225"/>
                </a:solidFill>
                <a:latin typeface="Calibri"/>
              </a:rPr>
              <a:t> 300/2025: </a:t>
            </a:r>
            <a:r>
              <a:rPr sz="1500" dirty="0">
                <a:solidFill>
                  <a:srgbClr val="1E293B"/>
                </a:solidFill>
                <a:latin typeface="Calibri"/>
              </a:rPr>
              <a:t>Gera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automaticamente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o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estudo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de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viabilidade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local e a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justificativa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de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vantajosidade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exigida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pelo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TCE-PI para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adesões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a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atas</a:t>
            </a:r>
            <a:r>
              <a:rPr sz="1500" dirty="0">
                <a:solidFill>
                  <a:srgbClr val="1E293B"/>
                </a:solidFill>
                <a:latin typeface="Calibri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500" b="1" dirty="0" err="1">
                <a:solidFill>
                  <a:srgbClr val="A60225"/>
                </a:solidFill>
                <a:latin typeface="Calibri"/>
              </a:rPr>
              <a:t>Curvas</a:t>
            </a:r>
            <a:r>
              <a:rPr sz="1500" b="1" dirty="0">
                <a:solidFill>
                  <a:srgbClr val="A60225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A60225"/>
                </a:solidFill>
                <a:latin typeface="Calibri"/>
              </a:rPr>
              <a:t>Empíricas</a:t>
            </a:r>
            <a:r>
              <a:rPr sz="1500" b="1" dirty="0">
                <a:solidFill>
                  <a:srgbClr val="A60225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A60225"/>
                </a:solidFill>
                <a:latin typeface="Calibri"/>
              </a:rPr>
              <a:t>Reais</a:t>
            </a:r>
            <a:r>
              <a:rPr sz="1500" b="1" dirty="0">
                <a:solidFill>
                  <a:srgbClr val="A60225"/>
                </a:solidFill>
                <a:latin typeface="Calibri"/>
              </a:rPr>
              <a:t>: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Substitui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estimativas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pontuais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por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inteligência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estatística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de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deságio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regional com R$ 341M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analisados</a:t>
            </a:r>
            <a:r>
              <a:rPr sz="1500" dirty="0">
                <a:solidFill>
                  <a:srgbClr val="1E293B"/>
                </a:solidFill>
                <a:latin typeface="Calibri"/>
              </a:rPr>
              <a:t>.</a:t>
            </a:r>
          </a:p>
        </p:txBody>
      </p:sp>
      <p:pic>
        <p:nvPicPr>
          <p:cNvPr id="6" name="Picture 5" descr="grafico_antes_depois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463040"/>
            <a:ext cx="5212080" cy="333231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172200" y="4937760"/>
            <a:ext cx="521208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0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t"/>
          <a:lstStyle/>
          <a:p>
            <a:pPr algn="ctr">
              <a:spcAft>
                <a:spcPts val="300"/>
              </a:spcAft>
              <a:defRPr sz="900" b="1">
                <a:solidFill>
                  <a:srgbClr val="A60225"/>
                </a:solidFill>
                <a:latin typeface="Calibri"/>
              </a:defRPr>
            </a:pPr>
            <a:r>
              <a:rPr sz="1050" dirty="0"/>
              <a:t>GANHO DE PERFORMANCE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rPr sz="1600" dirty="0" err="1"/>
              <a:t>Impacto</a:t>
            </a:r>
            <a:r>
              <a:rPr sz="1600" dirty="0"/>
              <a:t> </a:t>
            </a:r>
            <a:r>
              <a:rPr sz="1600" dirty="0" err="1"/>
              <a:t>Comprovado</a:t>
            </a:r>
            <a:r>
              <a:rPr sz="1600" dirty="0"/>
              <a:t> </a:t>
            </a:r>
            <a:r>
              <a:rPr sz="1600" dirty="0" err="1"/>
              <a:t>na</a:t>
            </a:r>
            <a:r>
              <a:rPr sz="1600" dirty="0"/>
              <a:t> </a:t>
            </a:r>
            <a:r>
              <a:rPr sz="1600" dirty="0" err="1"/>
              <a:t>Eficiência</a:t>
            </a:r>
            <a:endParaRPr sz="1600" dirty="0"/>
          </a:p>
          <a:p>
            <a:pPr>
              <a:spcAft>
                <a:spcPts val="200"/>
              </a:spcAft>
            </a:pPr>
            <a:r>
              <a:rPr sz="1100" b="1" dirty="0" err="1">
                <a:solidFill>
                  <a:srgbClr val="A60225"/>
                </a:solidFill>
                <a:latin typeface="Calibri"/>
              </a:rPr>
              <a:t>Resultados</a:t>
            </a:r>
            <a:r>
              <a:rPr sz="1100" b="1" dirty="0">
                <a:solidFill>
                  <a:srgbClr val="A60225"/>
                </a:solidFill>
                <a:latin typeface="Calibri"/>
              </a:rPr>
              <a:t>: </a:t>
            </a:r>
            <a:r>
              <a:rPr sz="1100" dirty="0" err="1">
                <a:solidFill>
                  <a:srgbClr val="1E293B"/>
                </a:solidFill>
                <a:latin typeface="Calibri"/>
              </a:rPr>
              <a:t>Queda</a:t>
            </a:r>
            <a:r>
              <a:rPr sz="1100" dirty="0">
                <a:solidFill>
                  <a:srgbClr val="1E293B"/>
                </a:solidFill>
                <a:latin typeface="Calibri"/>
              </a:rPr>
              <a:t> de 35 para 10 </a:t>
            </a:r>
            <a:r>
              <a:rPr sz="1100" dirty="0" err="1">
                <a:solidFill>
                  <a:srgbClr val="1E293B"/>
                </a:solidFill>
                <a:latin typeface="Calibri"/>
              </a:rPr>
              <a:t>dias</a:t>
            </a:r>
            <a:r>
              <a:rPr sz="1100" dirty="0">
                <a:solidFill>
                  <a:srgbClr val="1E293B"/>
                </a:solidFill>
                <a:latin typeface="Calibri"/>
              </a:rPr>
              <a:t> no tempo de </a:t>
            </a:r>
            <a:r>
              <a:rPr sz="1100" dirty="0" err="1">
                <a:solidFill>
                  <a:srgbClr val="1E293B"/>
                </a:solidFill>
                <a:latin typeface="Calibri"/>
              </a:rPr>
              <a:t>instrução</a:t>
            </a:r>
            <a:r>
              <a:rPr sz="1100" dirty="0">
                <a:solidFill>
                  <a:srgbClr val="1E293B"/>
                </a:solidFill>
                <a:latin typeface="Calibri"/>
              </a:rPr>
              <a:t> e </a:t>
            </a:r>
            <a:r>
              <a:rPr sz="1100" dirty="0" err="1">
                <a:solidFill>
                  <a:srgbClr val="1E293B"/>
                </a:solidFill>
                <a:latin typeface="Calibri"/>
              </a:rPr>
              <a:t>redução</a:t>
            </a:r>
            <a:r>
              <a:rPr sz="1100" dirty="0">
                <a:solidFill>
                  <a:srgbClr val="1E293B"/>
                </a:solidFill>
                <a:latin typeface="Calibri"/>
              </a:rPr>
              <a:t> de 45% para 12% </a:t>
            </a:r>
            <a:r>
              <a:rPr sz="1100" dirty="0" err="1">
                <a:solidFill>
                  <a:srgbClr val="1E293B"/>
                </a:solidFill>
                <a:latin typeface="Calibri"/>
              </a:rPr>
              <a:t>em</a:t>
            </a:r>
            <a:r>
              <a:rPr sz="1100" dirty="0">
                <a:solidFill>
                  <a:srgbClr val="1E293B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1E293B"/>
                </a:solidFill>
                <a:latin typeface="Calibri"/>
              </a:rPr>
              <a:t>diligências</a:t>
            </a:r>
            <a:r>
              <a:rPr sz="1100" dirty="0">
                <a:solidFill>
                  <a:srgbClr val="1E293B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1E293B"/>
                </a:solidFill>
                <a:latin typeface="Calibri"/>
              </a:rPr>
              <a:t>jurídicas</a:t>
            </a:r>
            <a:r>
              <a:rPr sz="1100" dirty="0">
                <a:solidFill>
                  <a:srgbClr val="1E293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padrao_mpp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60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A60225"/>
                </a:solidFill>
                <a:latin typeface="Calibri"/>
              </a:defRPr>
            </a:pPr>
            <a:r>
              <a:t>ARQUITETURA ESTRATÉGICA DO PROJETO Lic.IA</a:t>
            </a:r>
          </a:p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Escopo em 3 Anéis Concéntricos: Blindagem Local, Regional e Nacional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4864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0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ctr">
              <a:spcAft>
                <a:spcPts val="200"/>
              </a:spcAft>
              <a:defRPr sz="850" b="1">
                <a:solidFill>
                  <a:srgbClr val="A60225"/>
                </a:solidFill>
                <a:latin typeface="Calibri"/>
              </a:defRPr>
            </a:pPr>
            <a:r>
              <a:t>NÚCLEO REGULATÓRIO / MERCADO FÍSICO TERESINA</a:t>
            </a:r>
          </a:p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  <a:latin typeface="Calibri"/>
              </a:defRPr>
            </a:pPr>
            <a:r>
              <a:t>1º Anel: Blindagem Local (MPPI • TJ-PI • TCE-PI)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A60225"/>
                </a:solidFill>
                <a:latin typeface="Calibri"/>
              </a:rPr>
              <a:t>Mercado Comum: </a:t>
            </a:r>
            <a:r>
              <a:rPr sz="950">
                <a:solidFill>
                  <a:srgbClr val="1E293B"/>
                </a:solidFill>
                <a:latin typeface="Calibri"/>
              </a:rPr>
              <a:t>Infraestrutura, vigilância, TI e obras em Teresina envolvem exatamente os mesmos concorrentes locais.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A60225"/>
                </a:solidFill>
                <a:latin typeface="Calibri"/>
              </a:rPr>
              <a:t>Acórdão 300/2025 TCE-PI: </a:t>
            </a:r>
            <a:r>
              <a:rPr sz="950">
                <a:solidFill>
                  <a:srgbClr val="1E293B"/>
                </a:solidFill>
                <a:latin typeface="Calibri"/>
              </a:rPr>
              <a:t>Exige prova estrita de vantajosidade local para adesões (caronas). Comprovar preço aderente ao TJ-PI e ao próprio TCE-PI blinda o PGJ.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54864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8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ctr">
              <a:spcAft>
                <a:spcPts val="200"/>
              </a:spcAft>
              <a:defRPr sz="850" b="1">
                <a:solidFill>
                  <a:srgbClr val="B48A28"/>
                </a:solidFill>
                <a:latin typeface="Calibri"/>
              </a:defRPr>
            </a:pPr>
            <a:r>
              <a:t>10.504 ATOS MAPEADOS • R$ 341 MILHÕES ANALISADOS</a:t>
            </a:r>
          </a:p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  <a:latin typeface="Calibri"/>
              </a:defRPr>
            </a:pPr>
            <a:r>
              <a:t>2º Anel: Benchmarking Regional (9 MPs Nordeste + MPDFT)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A60225"/>
                </a:solidFill>
                <a:latin typeface="Calibri"/>
              </a:rPr>
              <a:t>Curva de Deságio Real: </a:t>
            </a:r>
            <a:r>
              <a:rPr sz="950">
                <a:solidFill>
                  <a:srgbClr val="1E293B"/>
                </a:solidFill>
                <a:latin typeface="Calibri"/>
              </a:rPr>
              <a:t>Estabelece a régua empírica de 20,18% de deságio médio para pautar negociações em pregões do MPPI.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A60225"/>
                </a:solidFill>
                <a:latin typeface="Calibri"/>
              </a:rPr>
              <a:t>Identidade Institucional: </a:t>
            </a:r>
            <a:r>
              <a:rPr sz="950">
                <a:solidFill>
                  <a:srgbClr val="1E293B"/>
                </a:solidFill>
                <a:latin typeface="Calibri"/>
              </a:rPr>
              <a:t>Necessidades de compras 100% idênticas (Promotorias, GAECOs, CAOs e perícias técnicas).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26280"/>
            <a:ext cx="5486400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ctr">
              <a:spcAft>
                <a:spcPts val="200"/>
              </a:spcAft>
              <a:defRPr sz="850" b="1">
                <a:solidFill>
                  <a:srgbClr val="0F172A"/>
                </a:solidFill>
                <a:latin typeface="Calibri"/>
              </a:defRPr>
            </a:pPr>
            <a:r>
              <a:t>ESCALABILIDADE PNCP • META DO TAP / PRÊMIO CNMP 2026</a:t>
            </a:r>
          </a:p>
          <a:p>
            <a:pPr>
              <a:spcAft>
                <a:spcPts val="4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3º Anel: Expansão Nacional (26 MPs Estaduais + Ramos Federais)</a:t>
            </a:r>
          </a:p>
          <a:p>
            <a:pPr>
              <a:spcAft>
                <a:spcPts val="300"/>
              </a:spcAft>
              <a:defRPr sz="900"/>
            </a:pPr>
            <a:r>
              <a:rPr b="1">
                <a:solidFill>
                  <a:srgbClr val="A60225"/>
                </a:solidFill>
              </a:rPr>
              <a:t>Ramos Federais: </a:t>
            </a:r>
            <a:r>
              <a:rPr>
                <a:solidFill>
                  <a:srgbClr val="1E293B"/>
                </a:solidFill>
              </a:rPr>
              <a:t>Ingestão dos dados de compras do MPU, MPF, MPT, MPM, MPDFT e do CNMP via API do PNCP.</a:t>
            </a:r>
          </a:p>
          <a:p>
            <a:pPr>
              <a:spcAft>
                <a:spcPts val="200"/>
              </a:spcAft>
              <a:defRPr sz="900"/>
            </a:pPr>
            <a:r>
              <a:rPr b="1">
                <a:solidFill>
                  <a:srgbClr val="A60225"/>
                </a:solidFill>
              </a:rPr>
              <a:t>Todos os 26 MPs: </a:t>
            </a:r>
            <a:r>
              <a:rPr>
                <a:solidFill>
                  <a:srgbClr val="1E293B"/>
                </a:solidFill>
              </a:rPr>
              <a:t>Criação do 1º Observatório Nacional de Compras Públicas do Ministério Público Brasileiro.</a:t>
            </a:r>
          </a:p>
        </p:txBody>
      </p:sp>
      <p:pic>
        <p:nvPicPr>
          <p:cNvPr id="8" name="Picture 7" descr="grafico_3_aneis_concentricos_mpp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371600"/>
            <a:ext cx="4937760" cy="396639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92240" y="5120640"/>
            <a:ext cx="493776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ctr">
              <a:spcAft>
                <a:spcPts val="200"/>
              </a:spcAft>
              <a:defRPr sz="850" b="1">
                <a:solidFill>
                  <a:srgbClr val="CBD5E1"/>
                </a:solidFill>
                <a:latin typeface="Calibri"/>
              </a:defRPr>
            </a:pPr>
            <a:r>
              <a:t>INTEGRAÇÃO TECNOLÓGICA</a:t>
            </a:r>
          </a:p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  <a:latin typeface="Calibri"/>
              </a:defRPr>
            </a:pPr>
            <a:r>
              <a:t>Operacionalização: O Portal Lic.IA em 6 Módulos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Os dados dos 3 anéis alimentam em tempo real o Panorama Regional, Curvas de Preço, Simulador, 3 Linhas de Defesa, Minutas e RAG Semântico.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padrao_mpp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60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A60225"/>
                </a:solidFill>
                <a:latin typeface="Calibri"/>
              </a:defRPr>
            </a:pPr>
            <a:r>
              <a:t>IMPACTO MENSURÁVEL PARA O MPPI</a:t>
            </a:r>
          </a:p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Resultados Práticos: Economicidade e Eficiência Orçamentária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0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tlCol="0" anchor="ctr"/>
          <a:lstStyle/>
          <a:p>
            <a:pPr algn="ctr"/>
            <a:r>
              <a:t>R$ 48,2 Milhões  • ECONOMIA REAL FEDERADA (TRUE SAVINGS)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Mitigação de deságios ilusórios: auditoria algorítmica que expurga pesquisas de preço superestimadas na fase interna.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512064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tlCol="0" anchor="ctr"/>
          <a:lstStyle/>
          <a:p>
            <a:pPr algn="ctr"/>
            <a:r>
              <a:rPr sz="2000" b="1">
                <a:solidFill>
                  <a:srgbClr val="0F172A"/>
                </a:solidFill>
                <a:latin typeface="Calibri"/>
              </a:rPr>
              <a:t>-70% do Tempo  </a:t>
            </a:r>
            <a:r>
              <a:rPr sz="1050" b="1">
                <a:solidFill>
                  <a:srgbClr val="64748B"/>
                </a:solidFill>
                <a:latin typeface="Calibri"/>
              </a:rPr>
              <a:t>• CELERIDADE PROCESSUAL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rPr sz="1050"/>
              <a:t>Redução drástica no tempo de confecção de TRs e saneamento de minutas.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12064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tlCol="0" anchor="ctr"/>
          <a:lstStyle/>
          <a:p>
            <a:pPr algn="ctr"/>
            <a:r>
              <a:rPr sz="2000" b="1">
                <a:solidFill>
                  <a:srgbClr val="0F172A"/>
                </a:solidFill>
                <a:latin typeface="Calibri"/>
              </a:rPr>
              <a:t>100% Blindagem  </a:t>
            </a:r>
            <a:r>
              <a:rPr sz="1050" b="1">
                <a:solidFill>
                  <a:srgbClr val="64748B"/>
                </a:solidFill>
                <a:latin typeface="Calibri"/>
              </a:rPr>
              <a:t>• CONFORMIDADE TCE-PI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rPr sz="1050"/>
              <a:t>Mitigação integral dos riscos de suspensão de editais pelo Acórdão 300/2025.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512064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0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t"/>
          <a:lstStyle/>
          <a:p>
            <a:pPr algn="ctr">
              <a:spcAft>
                <a:spcPts val="300"/>
              </a:spcAft>
              <a:defRPr sz="900" b="1">
                <a:solidFill>
                  <a:srgbClr val="A60225"/>
                </a:solidFill>
                <a:latin typeface="Calibri"/>
              </a:defRPr>
            </a:pPr>
            <a:r>
              <a:rPr sz="1050"/>
              <a:t>CUSTO DE DESENVOLVIMENTO: ZERO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rPr sz="1600"/>
              <a:t>Retorno Financeiro Imediato (ROI)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A60225"/>
                </a:solidFill>
                <a:latin typeface="Calibri"/>
              </a:rPr>
              <a:t>Impacto: </a:t>
            </a:r>
            <a:r>
              <a:rPr sz="1050">
                <a:solidFill>
                  <a:srgbClr val="1E293B"/>
                </a:solidFill>
                <a:latin typeface="Calibri"/>
              </a:rPr>
              <a:t>Com apenas 1% de deságio adicional capturado em contratações estratégicas, o projeto se paga centenas de vezes.</a:t>
            </a:r>
          </a:p>
        </p:txBody>
      </p:sp>
      <p:pic>
        <p:nvPicPr>
          <p:cNvPr id="9" name="Picture 8" descr="grafico_desagio_regional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463040"/>
            <a:ext cx="5212080" cy="33337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padrao_mpp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60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A60225"/>
                </a:solidFill>
                <a:latin typeface="Calibri"/>
              </a:defRPr>
            </a:pPr>
            <a:r>
              <a:t>CATEGORIA: GOVERNANÇA E GESTÃO</a:t>
            </a:r>
          </a:p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Alinhamento Estratégico: Rumo ao Prêmio CNMP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3035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0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t"/>
          <a:lstStyle/>
          <a:p>
            <a:pPr algn="ctr">
              <a:spcAft>
                <a:spcPts val="300"/>
              </a:spcAft>
              <a:defRPr sz="900" b="1">
                <a:solidFill>
                  <a:srgbClr val="A60225"/>
                </a:solidFill>
                <a:latin typeface="Calibri"/>
              </a:defRPr>
            </a:pPr>
            <a:r>
              <a:rPr sz="1300"/>
              <a:t>5 PILARES METODOLÓGICOS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rPr sz="1300"/>
              <a:t>Aderência ao Regulamento do Prêmio CNMP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A60225"/>
                </a:solidFill>
                <a:latin typeface="Calibri"/>
              </a:rPr>
              <a:t>1. Resolutividade (100%): </a:t>
            </a:r>
            <a:r>
              <a:rPr sz="1300">
                <a:solidFill>
                  <a:srgbClr val="1E293B"/>
                </a:solidFill>
                <a:latin typeface="Calibri"/>
              </a:rPr>
              <a:t>Soluciona gargalos crônicos na instrução e na estimativa precisa de preços de referência.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A60225"/>
                </a:solidFill>
                <a:latin typeface="Calibri"/>
              </a:rPr>
              <a:t>2. Inovação (100%): </a:t>
            </a:r>
            <a:r>
              <a:rPr sz="1300">
                <a:solidFill>
                  <a:srgbClr val="1E293B"/>
                </a:solidFill>
                <a:latin typeface="Calibri"/>
              </a:rPr>
              <a:t>Aplicação pioneira de Inteligência Artificial e RAG sobre dados abertos de compras públicas no Brasil.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A60225"/>
                </a:solidFill>
                <a:latin typeface="Calibri"/>
              </a:rPr>
              <a:t>3. Proatividade (95%): </a:t>
            </a:r>
            <a:r>
              <a:rPr sz="1300">
                <a:solidFill>
                  <a:srgbClr val="1E293B"/>
                </a:solidFill>
                <a:latin typeface="Calibri"/>
              </a:rPr>
              <a:t>Atua preventivamente na 1ª Linha de Defesa antes da abertura do certame, evitando cautelares do TCE.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A60225"/>
                </a:solidFill>
                <a:latin typeface="Calibri"/>
              </a:rPr>
              <a:t>4. Cooperação (95%): </a:t>
            </a:r>
            <a:r>
              <a:rPr sz="1300">
                <a:solidFill>
                  <a:srgbClr val="1E293B"/>
                </a:solidFill>
                <a:latin typeface="Calibri"/>
              </a:rPr>
              <a:t>Integração e intercâmbio de dados entre MPs, Tribunais de Justiça e Tribunais de Contas do Nordeste.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A60225"/>
                </a:solidFill>
                <a:latin typeface="Calibri"/>
              </a:rPr>
              <a:t>5. Transparência (100%): </a:t>
            </a:r>
            <a:r>
              <a:rPr sz="1300">
                <a:solidFill>
                  <a:srgbClr val="1E293B"/>
                </a:solidFill>
                <a:latin typeface="Calibri"/>
              </a:rPr>
              <a:t>Auditabilidade total e acesso facilitado aos dados de contratações para os órgãos de controle e a sociedade.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A60225"/>
                </a:solidFill>
                <a:latin typeface="Calibri"/>
              </a:rPr>
              <a:t>Manual MPPI: </a:t>
            </a:r>
            <a:r>
              <a:rPr sz="1300">
                <a:solidFill>
                  <a:srgbClr val="1E293B"/>
                </a:solidFill>
                <a:latin typeface="Calibri"/>
              </a:rPr>
              <a:t>Estruturado rigorosamente segundo os Atos PGJ 1.025/2020 e 1.254/2022 sob supervisão da APG.</a:t>
            </a:r>
          </a:p>
        </p:txBody>
      </p:sp>
      <p:pic>
        <p:nvPicPr>
          <p:cNvPr id="6" name="Picture 5" descr="grafico_radar_cnmp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463040"/>
            <a:ext cx="5029200" cy="472544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padrao_mpp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60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A60225"/>
                </a:solidFill>
                <a:latin typeface="Calibri"/>
              </a:defRPr>
            </a:pPr>
            <a:r>
              <a:t>CONFORMIDADE INTEGRAL COM A LEI 14.133/21</a:t>
            </a:r>
          </a:p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Governança e Blindagem: O Modelo das 3 Linhas de Defesa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0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t"/>
          <a:lstStyle/>
          <a:p>
            <a:pPr algn="ctr">
              <a:spcAft>
                <a:spcPts val="300"/>
              </a:spcAft>
              <a:defRPr sz="900" b="1">
                <a:solidFill>
                  <a:srgbClr val="A60225"/>
                </a:solidFill>
                <a:latin typeface="Calibri"/>
              </a:defRPr>
            </a:pPr>
            <a:r>
              <a:rPr sz="1400" dirty="0"/>
              <a:t>CLC E COMISSÕES DE CONTRATAÇÃO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rPr sz="1400" dirty="0"/>
              <a:t>1ª LINHA: GESTÃO E OPERAÇÃO</a:t>
            </a:r>
          </a:p>
          <a:p>
            <a:pPr>
              <a:spcAft>
                <a:spcPts val="800"/>
              </a:spcAft>
            </a:pPr>
            <a:r>
              <a:rPr sz="1400" b="1" dirty="0" err="1">
                <a:solidFill>
                  <a:srgbClr val="A60225"/>
                </a:solidFill>
                <a:latin typeface="Calibri"/>
              </a:rPr>
              <a:t>Simulador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 de </a:t>
            </a:r>
            <a:r>
              <a:rPr sz="1400" b="1" dirty="0" err="1">
                <a:solidFill>
                  <a:srgbClr val="A60225"/>
                </a:solidFill>
                <a:latin typeface="Calibri"/>
              </a:rPr>
              <a:t>Preços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: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Definição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de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valores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de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referência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aderentes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à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realidade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regional.</a:t>
            </a:r>
          </a:p>
          <a:p>
            <a:pPr>
              <a:spcAft>
                <a:spcPts val="800"/>
              </a:spcAft>
            </a:pPr>
            <a:r>
              <a:rPr sz="1400" b="1" dirty="0" err="1">
                <a:solidFill>
                  <a:srgbClr val="A60225"/>
                </a:solidFill>
                <a:latin typeface="Calibri"/>
              </a:rPr>
              <a:t>Minutas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A60225"/>
                </a:solidFill>
                <a:latin typeface="Calibri"/>
              </a:rPr>
              <a:t>Parametrizadas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: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Garantia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de que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os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editais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nasçam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sem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vícios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materiais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A60225"/>
                </a:solidFill>
                <a:latin typeface="Calibri"/>
              </a:rPr>
              <a:t>Master Checklist (15 </a:t>
            </a:r>
            <a:r>
              <a:rPr sz="1400" b="1" dirty="0" err="1">
                <a:solidFill>
                  <a:srgbClr val="A60225"/>
                </a:solidFill>
                <a:latin typeface="Calibri"/>
              </a:rPr>
              <a:t>itens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):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Conferência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prévia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de 100% das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exigências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legais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antes do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envio</a:t>
            </a:r>
            <a:r>
              <a:rPr sz="1400" dirty="0">
                <a:solidFill>
                  <a:srgbClr val="1E293B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46304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t"/>
          <a:lstStyle/>
          <a:p>
            <a:pPr algn="ctr">
              <a:spcAft>
                <a:spcPts val="300"/>
              </a:spcAft>
              <a:defRPr sz="900" b="1">
                <a:solidFill>
                  <a:srgbClr val="A60225"/>
                </a:solidFill>
                <a:latin typeface="Calibri"/>
              </a:defRPr>
            </a:pPr>
            <a:r>
              <a:rPr sz="1400"/>
              <a:t>APG E CONTROLE INTERNO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rPr sz="1400"/>
              <a:t>2ª LINHA: GESTÃO DE RISCOS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A60225"/>
                </a:solidFill>
                <a:latin typeface="Calibri"/>
              </a:rPr>
              <a:t>Matrizes de Riscos Automatizadas: </a:t>
            </a:r>
            <a:r>
              <a:rPr sz="1400">
                <a:solidFill>
                  <a:srgbClr val="1E293B"/>
                </a:solidFill>
                <a:latin typeface="Calibri"/>
              </a:rPr>
              <a:t>Identificação preventiva de eventos críticos em cada contratação.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A60225"/>
                </a:solidFill>
                <a:latin typeface="Calibri"/>
              </a:rPr>
              <a:t>Monitoramento de Metas: </a:t>
            </a:r>
            <a:r>
              <a:rPr sz="1400">
                <a:solidFill>
                  <a:srgbClr val="1E293B"/>
                </a:solidFill>
                <a:latin typeface="Calibri"/>
              </a:rPr>
              <a:t>Acompanhamento da economicidade e tempo médio de tramitação.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A60225"/>
                </a:solidFill>
                <a:latin typeface="Calibri"/>
              </a:rPr>
              <a:t>Aderência Normativa: </a:t>
            </a:r>
            <a:r>
              <a:rPr sz="1400">
                <a:solidFill>
                  <a:srgbClr val="1E293B"/>
                </a:solidFill>
                <a:latin typeface="Calibri"/>
              </a:rPr>
              <a:t>Alinhamento com o Plano de Contratações Anual (PCA) do MPPI.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46304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t"/>
          <a:lstStyle/>
          <a:p>
            <a:pPr algn="ctr">
              <a:spcAft>
                <a:spcPts val="300"/>
              </a:spcAft>
              <a:defRPr sz="900" b="1">
                <a:solidFill>
                  <a:srgbClr val="A60225"/>
                </a:solidFill>
                <a:latin typeface="Calibri"/>
              </a:defRPr>
            </a:pPr>
            <a:r>
              <a:rPr sz="1400"/>
              <a:t>ASSESSORIA JURÍDICA E AUDITORIA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rPr sz="1400"/>
              <a:t>3ª LINHA: AVALIAÇÃO INDEPENDENTE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A60225"/>
                </a:solidFill>
                <a:latin typeface="Calibri"/>
              </a:rPr>
              <a:t>Processos Pré-Saneados: </a:t>
            </a:r>
            <a:r>
              <a:rPr sz="1400">
                <a:solidFill>
                  <a:srgbClr val="1E293B"/>
                </a:solidFill>
                <a:latin typeface="Calibri"/>
              </a:rPr>
              <a:t>A Assessoria Jurídica recebe processos instruídos e validados matematicamente.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A60225"/>
                </a:solidFill>
                <a:latin typeface="Calibri"/>
              </a:rPr>
              <a:t>Fim das Devoluções: </a:t>
            </a:r>
            <a:r>
              <a:rPr sz="1400">
                <a:solidFill>
                  <a:srgbClr val="1E293B"/>
                </a:solidFill>
                <a:latin typeface="Calibri"/>
              </a:rPr>
              <a:t>Eliminação de diligências desnecessárias por falta de documentos formais.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A60225"/>
                </a:solidFill>
                <a:latin typeface="Calibri"/>
              </a:rPr>
              <a:t>Segurança Decisória: </a:t>
            </a:r>
            <a:r>
              <a:rPr sz="1400">
                <a:solidFill>
                  <a:srgbClr val="1E293B"/>
                </a:solidFill>
                <a:latin typeface="Calibri"/>
              </a:rPr>
              <a:t>O Procurador-Geral de Justiça homologa contratações 100% blindadas.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padrao_mpp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60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A60225"/>
                </a:solidFill>
                <a:latin typeface="Calibri"/>
              </a:defRPr>
            </a:pPr>
            <a:r>
              <a:t>CRONOGRAMA DE IMPLANTAÇÃO E GOVERNANÇA</a:t>
            </a:r>
          </a:p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Roteiro de Formalização: Próximos Passos no SEI / MPPI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1460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0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64592" rtlCol="0" anchor="ctr"/>
          <a:lstStyle/>
          <a:p>
            <a:pPr algn="ctr">
              <a:spcAft>
                <a:spcPts val="600"/>
              </a:spcAft>
              <a:defRPr sz="900" b="1">
                <a:solidFill>
                  <a:srgbClr val="A60225"/>
                </a:solidFill>
                <a:latin typeface="Calibri"/>
              </a:defRPr>
            </a:pPr>
            <a:r>
              <a:rPr sz="1050"/>
              <a:t>CLC / INÍCIO</a:t>
            </a:r>
          </a:p>
          <a:p>
            <a:pPr>
              <a:spcAft>
                <a:spcPts val="800"/>
              </a:spcAft>
              <a:defRPr sz="1250" b="1">
                <a:solidFill>
                  <a:srgbClr val="0F172A"/>
                </a:solidFill>
                <a:latin typeface="Calibri"/>
              </a:defRPr>
            </a:pPr>
            <a:r>
              <a:rPr sz="1600"/>
              <a:t>Passo 01: Autuação no SEI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rPr sz="1050"/>
              <a:t>Abertura de processo sob o tipo 'Gestão Estratégica: Projetos Institucionais' com o Despacho Inicial da CLC.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463040"/>
            <a:ext cx="251460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64592" rtlCol="0" anchor="ctr"/>
          <a:lstStyle/>
          <a:p>
            <a:pPr algn="ctr">
              <a:spcAft>
                <a:spcPts val="600"/>
              </a:spcAft>
              <a:defRPr sz="900" b="1">
                <a:solidFill>
                  <a:srgbClr val="A60225"/>
                </a:solidFill>
                <a:latin typeface="Calibri"/>
              </a:defRPr>
            </a:pPr>
            <a:r>
              <a:rPr sz="1050"/>
              <a:t>METODOLOGIA</a:t>
            </a:r>
          </a:p>
          <a:p>
            <a:pPr>
              <a:spcAft>
                <a:spcPts val="800"/>
              </a:spcAft>
              <a:defRPr sz="1250" b="1">
                <a:solidFill>
                  <a:srgbClr val="0F172A"/>
                </a:solidFill>
                <a:latin typeface="Calibri"/>
              </a:defRPr>
            </a:pPr>
            <a:r>
              <a:rPr sz="1600"/>
              <a:t>Passo 02: Validação na APG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rPr sz="1050"/>
              <a:t>Encaminhamento à Assessoria de Planejamento e Gestão para registro formal do TAP segundo Ato PGJ nº 1.025/2020.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63040"/>
            <a:ext cx="251460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64592" rtlCol="0" anchor="ctr"/>
          <a:lstStyle/>
          <a:p>
            <a:pPr algn="ctr">
              <a:spcAft>
                <a:spcPts val="600"/>
              </a:spcAft>
              <a:defRPr sz="900" b="1">
                <a:solidFill>
                  <a:srgbClr val="A60225"/>
                </a:solidFill>
                <a:latin typeface="Calibri"/>
              </a:defRPr>
            </a:pPr>
            <a:r>
              <a:rPr sz="1050"/>
              <a:t>INSTITUCIONALIZAÇÃO</a:t>
            </a:r>
          </a:p>
          <a:p>
            <a:pPr>
              <a:spcAft>
                <a:spcPts val="800"/>
              </a:spcAft>
              <a:defRPr sz="1250" b="1">
                <a:solidFill>
                  <a:srgbClr val="0F172A"/>
                </a:solidFill>
                <a:latin typeface="Calibri"/>
              </a:defRPr>
            </a:pPr>
            <a:r>
              <a:rPr sz="1600"/>
              <a:t>Passo 03: Portaria da PGJ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rPr sz="1050"/>
              <a:t>Publicação de ato oficial da Procuradoria-Geral instituindo o projeto e designando a comissão técnica gestora.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463040"/>
            <a:ext cx="251460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64592" rtlCol="0" anchor="ctr"/>
          <a:lstStyle/>
          <a:p>
            <a:pPr algn="ctr">
              <a:spcAft>
                <a:spcPts val="600"/>
              </a:spcAft>
              <a:defRPr sz="900" b="1">
                <a:solidFill>
                  <a:srgbClr val="A60225"/>
                </a:solidFill>
                <a:latin typeface="Calibri"/>
              </a:defRPr>
            </a:pPr>
            <a:r>
              <a:rPr sz="1050"/>
              <a:t>RECONHECIMENTO</a:t>
            </a:r>
          </a:p>
          <a:p>
            <a:pPr>
              <a:spcAft>
                <a:spcPts val="800"/>
              </a:spcAft>
              <a:defRPr sz="1250" b="1">
                <a:solidFill>
                  <a:srgbClr val="0F172A"/>
                </a:solidFill>
                <a:latin typeface="Calibri"/>
              </a:defRPr>
            </a:pPr>
            <a:r>
              <a:rPr sz="1600"/>
              <a:t>Passo 04: Inscrição no CNMP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Submissão ao Banco de Projetos do CNMP, apresentando a base unificada dos 26 MPs estaduais e ramos federais (MPF, MPT, MPM e MPU).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17720"/>
            <a:ext cx="77724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9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64592" rtlCol="0" anchor="ctr"/>
          <a:lstStyle/>
          <a:p>
            <a:pPr algn="ctr">
              <a:spcAft>
                <a:spcPts val="400"/>
              </a:spcAft>
              <a:defRPr sz="1150" b="1">
                <a:solidFill>
                  <a:srgbClr val="109553"/>
                </a:solidFill>
                <a:latin typeface="Calibri"/>
              </a:defRPr>
            </a:pPr>
            <a:r>
              <a:t>ESTADO DE PRONTIDÃO: 100% DOS DOCUMENTOS JÁ REDIGIDOS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Minuta do Despacho Inicial da CLC: Pronta para autuação imediata no SEI.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Termo de Abertura de Projeto (TAP): Estruturado no Manual da APG com escopo nos 3 Anéis Concéntricos (Local, Regional e Nacional).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Código do Portal Web: Operacional em localhost:5173 com os 6 módulos integrados prontos para demonstração.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padrao_mpp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60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A60225"/>
                </a:solidFill>
                <a:latin typeface="Calibri"/>
              </a:defRPr>
            </a:pPr>
            <a:r>
              <a:t>ENCAMINHAMENTO E DECISÃO</a:t>
            </a:r>
          </a:p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Conclusão Executiva: Deliberações Solicitadas à PGJ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318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t"/>
          <a:lstStyle/>
          <a:p>
            <a:pPr algn="ctr">
              <a:spcAft>
                <a:spcPts val="300"/>
              </a:spcAft>
              <a:defRPr sz="900" b="1">
                <a:solidFill>
                  <a:srgbClr val="A60225"/>
                </a:solidFill>
                <a:latin typeface="Calibri"/>
              </a:defRPr>
            </a:pPr>
            <a:r>
              <a:rPr sz="1050"/>
              <a:t>BENEFÍCIOS ESTRATÉGICOS CONSOLIDADOS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rPr sz="1600"/>
              <a:t>O Que o MPPI Conquista com o Projeto Lic.IA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A60225"/>
                </a:solidFill>
                <a:latin typeface="Calibri"/>
              </a:rPr>
              <a:t>1. Liderança Regional: </a:t>
            </a:r>
            <a:r>
              <a:rPr sz="1200">
                <a:solidFill>
                  <a:srgbClr val="1E293B"/>
                </a:solidFill>
                <a:latin typeface="Calibri"/>
              </a:rPr>
              <a:t>O MPPI se torna referência entre os órgãos públicos no uso inteligente de dados de contratações.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A60225"/>
                </a:solidFill>
                <a:latin typeface="Calibri"/>
              </a:rPr>
              <a:t>2. Proteção Jurídica Total: </a:t>
            </a:r>
            <a:r>
              <a:rPr sz="1200">
                <a:solidFill>
                  <a:srgbClr val="1E293B"/>
                </a:solidFill>
                <a:latin typeface="Calibri"/>
              </a:rPr>
              <a:t>Blindagem técnica da Administração Superior contra apontamentos do TCE-PI e controle externo.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A60225"/>
                </a:solidFill>
                <a:latin typeface="Calibri"/>
              </a:rPr>
              <a:t>3. Economicidade Real: </a:t>
            </a:r>
            <a:r>
              <a:rPr sz="1200">
                <a:solidFill>
                  <a:srgbClr val="1E293B"/>
                </a:solidFill>
                <a:latin typeface="Calibri"/>
              </a:rPr>
              <a:t>Aumento comprovado do deságio nas compras e maximização de cada centavo do orçamento.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A60225"/>
                </a:solidFill>
                <a:latin typeface="Calibri"/>
              </a:rPr>
              <a:t>4. Reconhecimento Nacional: </a:t>
            </a:r>
            <a:r>
              <a:rPr sz="1200">
                <a:solidFill>
                  <a:srgbClr val="1E293B"/>
                </a:solidFill>
                <a:latin typeface="Calibri"/>
              </a:rPr>
              <a:t>Candidatura sólida e com altíssima probabilidade de premiação no Prêmio CNMP 2026.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318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0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t"/>
          <a:lstStyle/>
          <a:p>
            <a:pPr algn="ctr">
              <a:spcAft>
                <a:spcPts val="300"/>
              </a:spcAft>
              <a:defRPr sz="900" b="1">
                <a:solidFill>
                  <a:srgbClr val="A60225"/>
                </a:solidFill>
                <a:latin typeface="Calibri"/>
              </a:defRPr>
            </a:pPr>
            <a:r>
              <a:rPr sz="1050"/>
              <a:t>DELIBERAÇÕES DA ADMINISTRAÇÃO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rPr sz="1600"/>
              <a:t>Proposições Práticas Submetidas à Decisão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A60225"/>
                </a:solidFill>
                <a:latin typeface="Calibri"/>
              </a:rPr>
              <a:t>1. Autorização para Autuação: </a:t>
            </a:r>
            <a:r>
              <a:rPr sz="1200">
                <a:solidFill>
                  <a:srgbClr val="1E293B"/>
                </a:solidFill>
                <a:latin typeface="Calibri"/>
              </a:rPr>
              <a:t>Aprovação do início formal do processo administrativo no SEI/MPPI sob a responsabilidade da CLC.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A60225"/>
                </a:solidFill>
                <a:latin typeface="Calibri"/>
              </a:rPr>
              <a:t>2. Acolhimento pela APG: </a:t>
            </a:r>
            <a:r>
              <a:rPr sz="1200">
                <a:solidFill>
                  <a:srgbClr val="1E293B"/>
                </a:solidFill>
                <a:latin typeface="Calibri"/>
              </a:rPr>
              <a:t>Envio do TAP à Assessoria de Planejamento e Gestão para inclusão na carteira de projetos prioritários.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A60225"/>
                </a:solidFill>
                <a:latin typeface="Calibri"/>
              </a:rPr>
              <a:t>3. Publicação de Portaria PGJ: </a:t>
            </a:r>
            <a:r>
              <a:rPr sz="1200">
                <a:solidFill>
                  <a:srgbClr val="1E293B"/>
                </a:solidFill>
                <a:latin typeface="Calibri"/>
              </a:rPr>
              <a:t>Chancela oficial do Projeto Lic.IA no Diário Oficial Eletrônico do MPPI.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A60225"/>
                </a:solidFill>
                <a:latin typeface="Calibri"/>
              </a:rPr>
              <a:t>4. Inscrição no Prêmio CNMP: </a:t>
            </a:r>
            <a:r>
              <a:rPr sz="1200">
                <a:solidFill>
                  <a:srgbClr val="1E293B"/>
                </a:solidFill>
                <a:latin typeface="Calibri"/>
              </a:rPr>
              <a:t>Autorização para preparação da submissão na Categoria Governança e Gestão em 2026.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003800"/>
            <a:ext cx="106984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0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09728" rtlCol="0" anchor="ctr"/>
          <a:lstStyle/>
          <a:p>
            <a:pPr algn="ctr">
              <a:defRPr sz="1100" b="1">
                <a:solidFill>
                  <a:srgbClr val="A60225"/>
                </a:solidFill>
                <a:latin typeface="Calibri"/>
              </a:defRPr>
            </a:pPr>
            <a:r>
              <a:rPr sz="1400"/>
              <a:t>"PROJETO Lic.IA: Governança, Preço Justo e Segurança Jurídica para o Ministério Público do Estado do Piauí."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2517</Words>
  <Application>Microsoft Office PowerPoint</Application>
  <PresentationFormat>Widescreen</PresentationFormat>
  <Paragraphs>173</Paragraphs>
  <Slides>10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keywords/>
  <dc:description>generated using python-pptx</dc:description>
  <cp:lastModifiedBy>THIAGO NOGUEIRA DE SOUSA MARTINS ALMEIDA</cp:lastModifiedBy>
  <cp:revision>4</cp:revision>
  <dcterms:created xsi:type="dcterms:W3CDTF">2013-01-27T09:14:16Z</dcterms:created>
  <dcterms:modified xsi:type="dcterms:W3CDTF">2026-10-02T12:52:32Z</dcterms:modified>
  <cp:category/>
</cp:coreProperties>
</file>