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DE FALA (SLIDE 1):</a:t>
            </a:r>
          </a:p>
          <a:p>
            <a:r>
              <a:t>Senhor Procurador-Geral de Justiça, Senhores Subprocuradores, Colegas da Administração Superior:</a:t>
            </a:r>
          </a:p>
          <a:p>
            <a:r>
              <a:t>Apresento hoje à Administração Superior o PROJETO ANNONA, uma iniciativa concebida e desenvolvida com a força de trabalho interna da Coordenação de Licitações e Contratos (CLC) que coloca o Ministério Público do Estado do Piauí na liderança tecnológica e de governança das compras públicas em todo o Nordeste.</a:t>
            </a:r>
          </a:p>
          <a:p>
            <a:r>
              <a:t>O nome 'Annona' resgata a mais nobre raiz histórica da administração pública: a histórica 'Cura Annonae', criada em Roma no ano 7 d.C. para garantir preços justos, fiscalizar contratos e assegurar que o Estado nunca pare por desabastecimento. Nós pegamos essa tradição de zelo pelo dinheiro público e a projetamos no século XXI com Inteligência Artificial, RAG e dados abertos a custo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DE FALA (SLIDE 2):</a:t>
            </a:r>
          </a:p>
          <a:p>
            <a:r>
              <a:t>A transição para a Nova Lei de Licitações trouxe grandes desafios para toda a administração pública brasileira. No MPPI, nós já avançamos ao publicar diretrizes normativas e excelentes manifestações referenciais pela Assessoria Jurídica. No entanto, tínhamos um problema prático: essas diretrizes estavam dispersas em documentos estáticos de texto e PDFs de dezenas de páginas. Os servidores dos setores demandantes continuavam 'começando do zero' a cada compra, e a nossa pesquisa de preços ainda operava isolada do resto do país. Precisávamos de um salto de inteligência.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DE FALA (SLIDE 3):</a:t>
            </a:r>
          </a:p>
          <a:p>
            <a:r>
              <a:t>Quero deixar muito claro perante esta Administração Superior: o PROJETO ANNONA não concorre com a nossa valorosa Assessoria Jurídica nem reinventa a roda. Pelo contrário: ele pega as louváveis manifestações jurídico-referenciais que o MPPI já possui — como a MJR 92 e a MJR 86 — e lhes dá asas tecnológicas. Em vez de exigir que um servidor leia um PDF de 160 páginas para saber se pode ou não dispensar a licitação, o ANNONA faz essa triagem automatizada com Inteligência Artificial, apontando de imediato o que falta e garantindo que o processo chegue blindado à PGJ.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DE FALA (SLIDE 4):</a:t>
            </a:r>
          </a:p>
          <a:p>
            <a:r>
              <a:t>O MPPI é hoje o primeiro Ministério Público de todo o Brasil a ter uma base unificada com 100% das contratações de uma região geográfica inteira. Quando o MPPI precisa contratar uma solução de nuvem, uma reforma de promotoria ou um software pericial, nós não precisamos adivinhar o mercado: nós acessamos o que os 8 MPs vizinhos contrataram, quanto pagaram e quais falhas os tribunais de contas apontaram neles. O Piauí deixou de ser consumidor passivo de modelos para ser o polo agregador do Nordeste.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DE FALA (SLIDE 5):</a:t>
            </a:r>
          </a:p>
          <a:p>
            <a:r>
              <a:t>Aqui está a prova material da resolutividade do projeto: nós não lidamos com suposições, mas com dados matemáticos. Mapeamos R$ 341 milhões em licitações e descobrimos a curva real de desconto praticada pelo mercado perante os Ministérios Públicos. Essa inteligência permite que os nossos pregoeiros negociem com muito mais firmeza e que os nossos pesquisadores de preço não aceitem cotações infladas. Desenvolvemos inclusive um Simulador no portal que avisa quando um desconto é perigoso e pode gerar abandono de contrato por inexequibilidade.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DE FALA (SLIDE 6):</a:t>
            </a:r>
          </a:p>
          <a:p>
            <a:r>
              <a:t>Senhor Procurador-Geral, o ANNONA é um escudo protetor para a sua caneta e para a dos nossos gestores. O Tribunal de Contas do Piauí editou recentemente o Acórdão 300/2025, fixando regras duríssimas para adesões a atas de registro de preços. Em vez de esperar uma notificação ou auditoria, a CLC se antecipou: já estruturou a Instrução Normativa e o checklist de conformidade que blindam qualquer processo de carona no MPPI. Além disso, mineramos 662 pareceres jurídicos para eliminar previamente as causas de devolução de processos.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DE FALA (SLIDE 7):</a:t>
            </a:r>
          </a:p>
          <a:p>
            <a:r>
              <a:t>O objetivo final do Ministério Público não é fazer licitações; é defender a sociedade piauiense, combater a criminalidade, fiscalizar a saúde e a educação. Quando uma compra direta de ar-condicionado ou manutenção de uma promotoria no extremo sul do Piauí demora 45 dias, quem sofre é o promotor e o cidadão na fila. Com o ANNONA e o rito dos pareceres referenciais automatizados, reduzimos esse tempo em até 70%, concluindo a compra em menos de uma semana. Menos burocracia no meio significa mais força na ponta.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DE FALA (SLIDE 8):</a:t>
            </a:r>
          </a:p>
          <a:p>
            <a:r>
              <a:t>Em tempos de responsabilidade fiscal rigorosa, trago uma informação da qual muito nos orgulhamos: este projeto não custou um único centavo aos cofres do MPPI. Não contratamos consultorias de Brasília ou de São Paulo, não compramos softwares milionários de mercado. Toda a arquitetura de dados, a mineração algorítmica, o banco de 10.504 documentos e o portal web interativo foram construídos pela equipe da CLC em prol do Ministério Público do Piauí.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DE FALA (SLIDE 9):</a:t>
            </a:r>
          </a:p>
          <a:p>
            <a:r>
              <a:t>Gostaria de convidar Vossas Excelências a verem o ANNONA funcionando ao vivo. Ele não é uma promessa no papel, não é uma ideia abstrata para o futuro: ele está pronto, em operação no nosso servidor local e disponível para uso imediato por todos os servidores do MPPI.</a:t>
            </a:r>
          </a:p>
          <a:p>
            <a:r>
              <a:t>(Neste momento, o apresentador gasta 2 minutos demonstrando o portal na tela: faz uma simulação ao vivo de deságio com um valor sugerido pelo PGJ, mostra o checklist e a busca instantânea).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DE FALA (SLIDE 10):</a:t>
            </a:r>
          </a:p>
          <a:p>
            <a:r>
              <a:t>Senhor Procurador-Geral, o PROJETO ANNONA preenche com notas de excelência todos os requisitos do nosso Plano Estratégico Institucional (PEI) e do Prêmio CNMP. Ele coloca o Ministério Público do Estado do Piauí como referência de inovação e vanguarda administrativa para todo o Brasil.</a:t>
            </a:r>
          </a:p>
          <a:p>
            <a:r>
              <a:t>Por essas razões, submetemos os autos do processo SEI para a homologação formal do Termo de Abertura de Projeto por Vossa Excelência, solicitando a chancela da Administração Superior para que possamos inscrever oficialmente o MPPI na disputa pelo Prêmio CNMP 2026 na Categoria Governança e Gestão.</a:t>
            </a:r>
          </a:p>
          <a:p>
            <a:r>
              <a:t>Muito obrigado e estamos à disposição para os esclarecimentos dos senhores.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A059"/>
                </a:solidFill>
              </a:defRPr>
            </a:pPr>
            <a:r>
              <a:t>MINISTÉRIO PÚBLICO DO ESTADO DO PIAUÍ  •  COORDENAÇÃO DE LICITAÇÕES E CONTRATOS (CLC)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600" b="1">
                <a:solidFill>
                  <a:srgbClr val="FFFFFF"/>
                </a:solidFill>
              </a:defRPr>
            </a:pPr>
            <a:r>
              <a:t>PROJETO ANNONA</a:t>
            </a:r>
          </a:p>
          <a:p>
            <a:pPr>
              <a:defRPr sz="2000" b="1">
                <a:solidFill>
                  <a:srgbClr val="C5A059"/>
                </a:solidFill>
              </a:defRPr>
            </a:pPr>
            <a:r>
              <a:t>Observatório de Governança, Preços e Inteligência em Contratações Públicas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t>Da Tradição da Governança à Inteligência Artificial: Dados Abertos, Eficiência do Gasto e Blindagem sob a Lei nº 14.133/2021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931920"/>
            <a:ext cx="3291840" cy="2103120"/>
          </a:xfrm>
          <a:prstGeom prst="roundRect">
            <a:avLst/>
          </a:prstGeom>
          <a:solidFill>
            <a:srgbClr val="141B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10.504 DOCUMENTOS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100% dos 9 Ministérios Públicos do Nordeste integrados em RAG inédito.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3931920"/>
            <a:ext cx="3291840" cy="2103120"/>
          </a:xfrm>
          <a:prstGeom prst="roundRect">
            <a:avLst/>
          </a:prstGeom>
          <a:solidFill>
            <a:srgbClr val="141B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411480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R$ 68,8 MI ECONOMIZADOS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Curva empírica real de 20,18% de deságio médio em 219 certames concluídos.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931920"/>
            <a:ext cx="3291840" cy="2103120"/>
          </a:xfrm>
          <a:prstGeom prst="roundRect">
            <a:avLst/>
          </a:prstGeom>
          <a:solidFill>
            <a:srgbClr val="141B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411480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5A059"/>
                </a:solidFill>
              </a:defRPr>
            </a:pPr>
            <a:r>
              <a:t>CUSTO ZERO &amp; PRÊMIO CNMP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Inovação própria da CLC pré-qualificada na Categoria Governança e Gestão.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C5A059"/>
                </a:solidFill>
              </a:defRPr>
            </a:pPr>
            <a:r>
              <a:t>DIAGNÓSTICO E JUSTIFICATIVA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O Cenário Real das Contratações e os Limites dos Modelos Estáticos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41B2C"/>
          </a:solidFill>
          <a:ln w="12700">
            <a:solidFill>
              <a:srgbClr val="9B1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B111E"/>
                </a:solidFill>
              </a:defRPr>
            </a:pPr>
            <a:r>
              <a:t>1. DESAFIOS DA LEI 14.133/21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• Exigência rigorosa de Estudos Técnicos Preliminares (ETP) e Matrizes de Risco.</a:t>
            </a:r>
            <a:br/>
            <a:br/>
            <a:r>
              <a:t>• Setores demandantes frequentemente começavam do zero a cada contratação.</a:t>
            </a:r>
            <a:br/>
            <a:br/>
            <a:r>
              <a:t>• Insegurança jurídica e receio de responsabilização de servidores (Art. 28 LINDB).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41B2C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5A059"/>
                </a:solidFill>
              </a:defRPr>
            </a:pPr>
            <a:r>
              <a:t>2. LIMITES DOS MODELOS EM PDF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• O MPPI já possuía excelentes diretrizes (MJRs da Assessoria Jurídica), mas em PDFs estáticos de até 160 páginas.</a:t>
            </a:r>
            <a:br/>
            <a:br/>
            <a:r>
              <a:t>• Consulta manual lenta: servidores com dúvidas sobre como aplicar o rito simplificado.</a:t>
            </a:r>
            <a:br/>
            <a:br/>
            <a:r>
              <a:t>• Pesquisa de preços muitas vezes refém de cotações locais frágeis.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41B2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3. PRESSÃO DO CONTROLE EXTERNO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• Decisões recentes e duras de Tribunais de Contas sobre adesão a atas de registro de preços ('carona').</a:t>
            </a:r>
            <a:br/>
            <a:br/>
            <a:r>
              <a:t>• Destaque: Acórdão nº 300/2025 do Plenário do TCE-PI, exigindo justificativa contemporânea rigorosa.</a:t>
            </a:r>
            <a:br/>
            <a:br/>
            <a:r>
              <a:t>• Necessidade de blindagem preventiva de 2ª Linha de Defesa.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C5A059"/>
                </a:solidFill>
              </a:defRPr>
            </a:pPr>
            <a:r>
              <a:t>INOVAÇÃO E VALORIZAÇÃO INSTITUCIONAL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O Salto Inovador: Como o ANNONA Potencializa as MJRs Existentes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41B2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4A3B8"/>
                </a:solidFill>
              </a:defRPr>
            </a:pPr>
            <a:r>
              <a:t>O CENÁRIO ANTERIOR (DOCUMENTAL / ESTÁTICO)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• Manifestações Jurídico-Referenciais fundamentais (MJR 92 de dispensa, MJR 86 de adesão a ARP), mas arquivadas em pastas.</a:t>
            </a:r>
            <a:br/>
            <a:br/>
            <a:r>
              <a:t>• O servidor demandante precisava ler até 160 páginas para confirmar enquadramento.</a:t>
            </a:r>
            <a:br/>
            <a:br/>
            <a:r>
              <a:t>• Dúvidas recorrentes sobre instrução geravam devoluções processuais.</a:t>
            </a:r>
            <a:br/>
            <a:br/>
            <a:r>
              <a:t>• Operação isolada: sem comparação paramétrica com outros Ministérios Públicos.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41B2C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5A059"/>
                </a:solidFill>
              </a:defRPr>
            </a:pPr>
            <a:r>
              <a:t>A VERDADEIRA INOVAÇÃO DO PROJETO ANNONA (IA ATIVA)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• Inteligência Artificial e RAG que leem o processo e dizem a aderência à MJR em segundos.</a:t>
            </a:r>
            <a:br/>
            <a:br/>
            <a:r>
              <a:t>• Atualização Preditiva: Adequação dinâmica das adesões a ata às exigências do Acórdão 300/2025 do TCE-PI.</a:t>
            </a:r>
            <a:br/>
            <a:br/>
            <a:r>
              <a:t>• Curva Empírica Real de Preços: R$ 341M analisados para balizar se a proposta é vantajosa.</a:t>
            </a:r>
            <a:br/>
            <a:br/>
            <a:r>
              <a:t>• Master Checklist Digital Interativo da CLC com 15 barreiras preventivas de 2ª Linha.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C5A059"/>
                </a:solidFill>
              </a:defRPr>
            </a:pPr>
            <a:r>
              <a:t>ACERVO DE DADOS &amp; BENCHMARKING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Pioneirismo Regional: 100% dos Ministérios Públicos do Nordeste Integrados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1371600"/>
          </a:xfrm>
          <a:prstGeom prst="roundRect">
            <a:avLst/>
          </a:prstGeom>
          <a:solidFill>
            <a:srgbClr val="141B2C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2286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5A059"/>
                </a:solidFill>
              </a:defRPr>
            </a:pPr>
            <a:r>
              <a:t>10.504 DOCUMENTOS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100% estruturados em Markdown e JSONL.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1371600"/>
          </a:xfrm>
          <a:prstGeom prst="roundRect">
            <a:avLst/>
          </a:prstGeom>
          <a:solidFill>
            <a:srgbClr val="141B2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737360"/>
            <a:ext cx="2286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B82F6"/>
                </a:solidFill>
              </a:defRPr>
            </a:pPr>
            <a:r>
              <a:t>12 INSTITUIÇÕES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9 MPs do NE + TJ-PI, TCE-PI e MPDFT.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468880" cy="1371600"/>
          </a:xfrm>
          <a:prstGeom prst="roundRect">
            <a:avLst/>
          </a:prstGeom>
          <a:solidFill>
            <a:srgbClr val="141B2C"/>
          </a:solidFill>
          <a:ln w="12700">
            <a:solidFill>
              <a:srgbClr val="9B1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2286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9B111E"/>
                </a:solidFill>
              </a:defRPr>
            </a:pPr>
            <a:r>
              <a:t>662 PARECERES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Mapeamento das causas reais de ressalvas.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645920"/>
            <a:ext cx="2468880" cy="1371600"/>
          </a:xfrm>
          <a:prstGeom prst="roundRect">
            <a:avLst/>
          </a:prstGeom>
          <a:solidFill>
            <a:srgbClr val="141B2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1737360"/>
            <a:ext cx="2286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146 MATRIZES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Mapas de risco em TIC, obras e serviços.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10698480" cy="2743200"/>
          </a:xfrm>
          <a:prstGeom prst="roundRect">
            <a:avLst/>
          </a:prstGeom>
          <a:solidFill>
            <a:srgbClr val="141B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5A059"/>
                </a:solidFill>
              </a:defRPr>
            </a:pPr>
            <a:r>
              <a:t>A ABRANGÊNCIA HISTÓRICA DO OBSERVATÓRIO DO MPPI: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MPRN (2.743 docs) — Referência em Termos de Referência e atas integradas;</a:t>
            </a:r>
            <a:br/>
            <a:r>
              <a:t>• TJ-PI (2.178 docs) — Provimento nº 13/2025 e contratações do Judiciário estadual;</a:t>
            </a:r>
            <a:br/>
            <a:r>
              <a:t>• MPSE (1.144 docs) &amp; TCE-PI (1.120 docs) — Decisões vinculantes e rito sumário de valor;</a:t>
            </a:r>
            <a:br/>
            <a:r>
              <a:t>• MPPI (561 docs) — Processos SEI da PGJ e Fundo Especial (FPDC);</a:t>
            </a:r>
            <a:br/>
            <a:r>
              <a:t>• MPAL (538 docs), MPBA (472 docs), MPDFT (435 docs), MPMA (431 docs), MPCE (322 docs), MPPB (293 docs), MPPE (267 docs).</a:t>
            </a:r>
            <a:br/>
            <a:br/>
            <a:r>
              <a:t>Conexão automatizada às APIs oficiais do Portal Nacional de Contratações Públicas (PNCP) com auditabilidade total.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C5A059"/>
                </a:solidFill>
              </a:defRPr>
            </a:pPr>
            <a:r>
              <a:t>ESTUDO DE ECONOMICIDADE &amp; DESÁGIO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Impacto Financeiro Comprovado: R$ 68,8 Milhões em Economia e o Simulador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41B2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A CURVA REAL DE DESÁGIO DOS MINISTÉRIOS PÚBLICOS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• Total Orçado Analisado: R$ 341.262.169,56</a:t>
            </a:r>
            <a:br/>
            <a:r>
              <a:t>• Total Final Homologado: R$ 272.403.233,78</a:t>
            </a:r>
            <a:br/>
            <a:r>
              <a:t>• Economia Efetiva aos Cofres: R$ 68.858.935,79</a:t>
            </a:r>
            <a:br/>
            <a:r>
              <a:t>• Deságio Médio Global: 20,18% (em 219 certames concluídos)</a:t>
            </a:r>
            <a:br/>
            <a:br/>
            <a:r>
              <a:t>DESÁGIO PARAMÉTRICO POR CATEGORIA:</a:t>
            </a:r>
            <a:br/>
            <a:r>
              <a:t>  - TIC e Licenças em Nuvem: 25,32%</a:t>
            </a:r>
            <a:br/>
            <a:r>
              <a:t>  - Mobiliário e Equipamentos: 28,05%</a:t>
            </a:r>
            <a:br/>
            <a:r>
              <a:t>  - Terceirização / Mão de Obra: 13,14%</a:t>
            </a:r>
            <a:br/>
            <a:r>
              <a:t>  - Obras e Engenharia Predial: 10,58%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41B2C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5A059"/>
                </a:solidFill>
              </a:defRPr>
            </a:pPr>
            <a:r>
              <a:t>O SIMULADOR INTERATIVO ANNONA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• Ferramenta online integrada ao portal da CLC/MPPI.</a:t>
            </a:r>
            <a:br/>
            <a:br/>
            <a:r>
              <a:t>• O pregoeiro ou pesquisador digita o valor estimado e escolhe a categoria do objeto.</a:t>
            </a:r>
            <a:br/>
            <a:br/>
            <a:r>
              <a:t>• O sistema calcula:</a:t>
            </a:r>
            <a:br/>
            <a:r>
              <a:t>  1. A economia esperada com base na média regional;</a:t>
            </a:r>
            <a:br/>
            <a:r>
              <a:t>  2. O valor provável de homologação;</a:t>
            </a:r>
            <a:br/>
            <a:r>
              <a:t>  3. ALERTA DE RISCO DE INEXEQUIBILIDADE: avisa se o desconto passar do limite prudente (ex: &gt;22% em terceirização), exigindo diligência do Art. 59, § 2º.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C5A059"/>
                </a:solidFill>
              </a:defRPr>
            </a:pPr>
            <a:r>
              <a:t>2ª LINHA DE DEFESA (ART. 169)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Blindagem Preventiva contra o TCE-PI e Resposta ao Acórdão nº 300/2025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41B2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COMO O ANNONA PROTEGE O PROCURADOR-GERAL E OS GESTORES: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1. RESPOSTA IMEDIATA AO ACÓRDÃO Nº 300/2025 DO TCE-PI (ADESÃO A ATAS / CARONA):</a:t>
            </a:r>
            <a:br/>
            <a:r>
              <a:t>   • O Plenário do TCE-PI fixou exigências duras: vigência máxima de 1 ano, pesquisa contemporânea de mercado e justificativa expressa de vantajosidade.</a:t>
            </a:r>
            <a:br/>
            <a:r>
              <a:t>   • A CLC antecipou-se e elaborou a Minuta de Instrução Normativa que fecha todas as brechas de nulidade.</a:t>
            </a:r>
            <a:br/>
            <a:br/>
            <a:r>
              <a:t>2. MINERAÇÃO DE 662 PARECERES JURÍDICOS:</a:t>
            </a:r>
            <a:br/>
            <a:r>
              <a:t>   • Catalogou os 6 temas responsáveis por 88% das devoluções de processos (Pesquisa de Preços, LRF, Qualificação Técnica, Não Fracionamento, Riscos e IMR/SLA).</a:t>
            </a:r>
            <a:br/>
            <a:r>
              <a:t>   • O ANNONA entrega a redação preventiva padrão antes do processo tramitar.</a:t>
            </a:r>
            <a:br/>
            <a:br/>
            <a:r>
              <a:t>3. MASTER CHECKLIST DIGITAL DE 15 ETAPAS:</a:t>
            </a:r>
            <a:br/>
            <a:r>
              <a:t>   • Barreira de controle interno da CLC que impede que qualquer processo com vício atinja a mesa de homologação do Procurador-Geral de Justiça.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C5A059"/>
                </a:solidFill>
              </a:defRPr>
            </a:pPr>
            <a:r>
              <a:t>BENEFÍCIOS NA PONTA E ATIVIDADE-FIM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Celeridade de 70% nas Compras e Promotorias do Interior Equipadas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41B2C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5A059"/>
                </a:solidFill>
              </a:defRPr>
            </a:pPr>
            <a:r>
              <a:t>COMPRAS DIRETAS EM ATÉ 7 DIAS ÚTEIS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• Processos de pequeno valor demoravam 35 a 45 dias por passarem pela fila da Assessoria Jurídica.</a:t>
            </a:r>
            <a:br/>
            <a:br/>
            <a:r>
              <a:t>• Com a aplicação automatizada do Parecer Referencial (Art. 53, § 5º), a compra é finalizada em menos de 1 semana.</a:t>
            </a:r>
            <a:br/>
            <a:br/>
            <a:r>
              <a:t>• Redução de 70% do tempo de tramitação burocrática.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41B2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FIM DO 'COMEÇAR DO ZERO'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• Promotorias e Centros de Apoio não perdem mais semanas redigindo ETP e Termo de Referência.</a:t>
            </a:r>
            <a:br/>
            <a:br/>
            <a:r>
              <a:t>• O RAG entrega modelos de sucesso já testados em 12 instituições para qualquer necessidade.</a:t>
            </a:r>
            <a:br/>
            <a:br/>
            <a:r>
              <a:t>• Tempo de elaboração de TR cai de 30 dias para 48 horas.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41B2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FORÇA PARA A ATIVIDADE-FIM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• O MPPI não existe para comprar bens; existe para defender a sociedade.</a:t>
            </a:r>
            <a:br/>
            <a:br/>
            <a:r>
              <a:t>• Menos dinheiro gasto em custeio = mais orçamento para interiorização e investigações.</a:t>
            </a:r>
            <a:br/>
            <a:br/>
            <a:r>
              <a:t>• Promotoria de Justiça com ar-condicionado, computador e viatura sem interrupções.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C5A059"/>
                </a:solidFill>
              </a:defRPr>
            </a:pPr>
            <a:r>
              <a:t>RESPONSABILIDADE FISCAL &amp; RETORNO DO INVESTIMENTO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Custo Financeiro de Desenvolvimento: Exatamente R$ 0,00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41B2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INVESTIMENTO ORÇAMENTÁRIO ZERO • FORÇA DE TRABALHO 100% PRÓPRIA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R$ 0,00 gastos com consultorias externas privadas;</a:t>
            </a:r>
            <a:br/>
            <a:br/>
            <a:r>
              <a:t>• R$ 0,00 em aquisição de licenças de software proprietário;</a:t>
            </a:r>
            <a:br/>
            <a:br/>
            <a:r>
              <a:t>• Desenvolvimento executado integralmente pela equipe da Coordenação de Licitações e Contratos (CLC/MPPI);</a:t>
            </a:r>
            <a:br/>
            <a:br/>
            <a:r>
              <a:t>• Tecnologias contemporâneas de código aberto (Python, Vite, React, Lucide Icons, Recharts);</a:t>
            </a:r>
            <a:br/>
            <a:br/>
            <a:r>
              <a:t>• Retorno sobre o Investimento (ROI): Infinito, com potencial de economia anual de milhões de reais sem onerar o orçamento institucional.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C5A059"/>
                </a:solidFill>
              </a:defRPr>
            </a:pPr>
            <a:r>
              <a:t>TECNOLOGIA EM FUNCIONAMENTO REAL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Demonstração Prática do Portal ANNONA em Operação Funcional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41B2C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059"/>
                </a:solidFill>
              </a:defRPr>
            </a:pPr>
            <a:r>
              <a:t>O PORTAL ANNONA JÁ ESTÁ PRONTO E OPERANDO EM HTTP://LOCALHOST:5173/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1. PANORAMA REGIONAL: Visualização executiva dos 10.504 documentos e ranking dos 12 órgãos;</a:t>
            </a:r>
            <a:br/>
            <a:br/>
            <a:r>
              <a:t>2. SIMULADOR DE DESÁGIO: Cálculo ao vivo de economia projetada e alerta de inexequibilidade;</a:t>
            </a:r>
            <a:br/>
            <a:br/>
            <a:r>
              <a:t>3. CONTROLE &amp; MATRIZES: 662 pareceres, 146 riscos e Master Checklist de 15 itens checáveis;</a:t>
            </a:r>
            <a:br/>
            <a:br/>
            <a:r>
              <a:t>4. CADERNO NORMATIVO: Minutas de Atos da PGJ (Dispensa, CEAF e Carona) com cópia em 1 clique;</a:t>
            </a:r>
            <a:br/>
            <a:br/>
            <a:r>
              <a:t>5. EXPLORADOR SEMÂNTICO RAG: Busca instantânea em toda a base em milissegundos.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C5A059"/>
                </a:solidFill>
              </a:defRPr>
            </a:pPr>
            <a:r>
              <a:t>HOMOLOGAÇÃO &amp; RECONHECIMENTO NACIONAL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Rumo ao Prêmio CNMP 2026 e Deliberação da Administração Superior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41B2C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059"/>
                </a:solidFill>
              </a:defRPr>
            </a:pPr>
            <a:r>
              <a:t>OS 3 PEDIDOS SUBMETIDOS À ADMINISTRAÇÃO SUPERIOR: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1. APROVAÇÃO E HOMOLOGAÇÃO DO TAP (PROCESSO SEI Nº [Número]):</a:t>
            </a:r>
            <a:br/>
            <a:r>
              <a:t>   • Termo de Abertura de Projeto elaborado em estrita conformidade com o Ato PGJ nº 1.254/2022 (Metodologia de Gerenciamento de Projetos do MPPI alinhada ao PMBOK);</a:t>
            </a:r>
            <a:br/>
            <a:br/>
            <a:r>
              <a:t>2. PUBLICAÇÃO DAS PROPOSIÇÕES NORMATIVAS DA LEI 14.133/21:</a:t>
            </a:r>
            <a:br/>
            <a:r>
              <a:t>   • Minuta de Ato PGJ de Dispensa por Valor com Parecer Referencial;</a:t>
            </a:r>
            <a:br/>
            <a:r>
              <a:t>   • Minuta de Ato PGJ de Capacitação CEAF (Inexigibilidade);</a:t>
            </a:r>
            <a:br/>
            <a:r>
              <a:t>   • Minuta de Instrução Normativa da CLC para Governança de Carona (Acórdão 300/2025 TCE-PI);</a:t>
            </a:r>
            <a:br/>
            <a:br/>
            <a:r>
              <a:t>3. INSCRIÇÃO OFICIAL NO PRÊMIO CNMP 2026 E PRÊMIO MELHORES PRÁTICAS MPPI:</a:t>
            </a:r>
            <a:br/>
            <a:r>
              <a:t>   • Autorização para cadastramento pelo interlocutor institucional no Banco Nacional de Projetos (BNP) do CNMP na Categoria 'Governança e Gestão'.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